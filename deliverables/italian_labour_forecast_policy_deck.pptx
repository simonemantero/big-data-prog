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ae8e09c76143ba" /><Relationship Type="http://schemas.openxmlformats.org/officeDocument/2006/relationships/extended-properties" Target="/docProps/app.xml" Id="R08f2a48d94864795" /><Relationship Type="http://schemas.openxmlformats.org/officeDocument/2006/relationships/officeDocument" Target="/ppt/presentation.xml" Id="R387f1e18fa6041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b9fe42a7c74661"/>
  </p:sldMasterIdLst>
  <p:notesMasterIdLst>
    <p:notesMasterId xmlns:r="http://schemas.openxmlformats.org/officeDocument/2006/relationships" r:id="Rcb965b22185d479b"/>
  </p:notesMasterIdLst>
  <p:sldIdLst>
    <p:sldId xmlns:r="http://schemas.openxmlformats.org/officeDocument/2006/relationships" id="256" r:id="R337e1ca507cf4f71"/>
    <p:sldId xmlns:r="http://schemas.openxmlformats.org/officeDocument/2006/relationships" id="257" r:id="Rdd71b625bcf14d6c"/>
    <p:sldId xmlns:r="http://schemas.openxmlformats.org/officeDocument/2006/relationships" id="258" r:id="R9ee6854e8fb0491b"/>
    <p:sldId xmlns:r="http://schemas.openxmlformats.org/officeDocument/2006/relationships" id="259" r:id="Rc640af84c3ae4719"/>
    <p:sldId xmlns:r="http://schemas.openxmlformats.org/officeDocument/2006/relationships" id="260" r:id="R8a3a63f99f6245e2"/>
    <p:sldId xmlns:r="http://schemas.openxmlformats.org/officeDocument/2006/relationships" id="261" r:id="R5ddd6c324eec4768"/>
    <p:sldId xmlns:r="http://schemas.openxmlformats.org/officeDocument/2006/relationships" id="262" r:id="R6db606633ce04222"/>
    <p:sldId xmlns:r="http://schemas.openxmlformats.org/officeDocument/2006/relationships" id="263" r:id="R33fd40f8a901427a"/>
    <p:sldId xmlns:r="http://schemas.openxmlformats.org/officeDocument/2006/relationships" id="264" r:id="R88f8005504964ffe"/>
    <p:sldId xmlns:r="http://schemas.openxmlformats.org/officeDocument/2006/relationships" id="265" r:id="R2c1fa1625fe04d44"/>
    <p:sldId xmlns:r="http://schemas.openxmlformats.org/officeDocument/2006/relationships" id="266" r:id="R11e5d31bfe534636"/>
    <p:sldId xmlns:r="http://schemas.openxmlformats.org/officeDocument/2006/relationships" id="267" r:id="Ra3b6afbbfef342a7"/>
    <p:sldId xmlns:r="http://schemas.openxmlformats.org/officeDocument/2006/relationships" id="268" r:id="R1fe9142578ce45e8"/>
    <p:sldId xmlns:r="http://schemas.openxmlformats.org/officeDocument/2006/relationships" id="269" r:id="Rfb5e99cefbf94348"/>
    <p:sldId xmlns:r="http://schemas.openxmlformats.org/officeDocument/2006/relationships" id="270" r:id="R36c1bdf15851423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b9fe42a7c74661" /><Relationship Type="http://schemas.openxmlformats.org/officeDocument/2006/relationships/theme" Target="/ppt/theme/theme1.xml" Id="Rb4741eca87794c7c" /><Relationship Type="http://schemas.openxmlformats.org/officeDocument/2006/relationships/notesMaster" Target="/ppt/notesMasters/notesMaster1.xml" Id="Rcb965b22185d479b" /><Relationship Type="http://schemas.openxmlformats.org/officeDocument/2006/relationships/presProps" Target="/ppt/presProps.xml" Id="Rbb3f28eda6e043d6" /><Relationship Type="http://schemas.openxmlformats.org/officeDocument/2006/relationships/viewProps" Target="/ppt/viewProps.xml" Id="R0cb1e1b653834296" /><Relationship Type="http://schemas.openxmlformats.org/officeDocument/2006/relationships/tableStyles" Target="/ppt/tableStyles.xml" Id="R1427e51d9c9b4854" /><Relationship Type="http://schemas.openxmlformats.org/officeDocument/2006/relationships/slide" Target="/ppt/slides/slide1.xml" Id="R337e1ca507cf4f71" /><Relationship Type="http://schemas.openxmlformats.org/officeDocument/2006/relationships/slide" Target="/ppt/slides/slide2.xml" Id="Rdd71b625bcf14d6c" /><Relationship Type="http://schemas.openxmlformats.org/officeDocument/2006/relationships/slide" Target="/ppt/slides/slide3.xml" Id="R9ee6854e8fb0491b" /><Relationship Type="http://schemas.openxmlformats.org/officeDocument/2006/relationships/slide" Target="/ppt/slides/slide4.xml" Id="Rc640af84c3ae4719" /><Relationship Type="http://schemas.openxmlformats.org/officeDocument/2006/relationships/slide" Target="/ppt/slides/slide5.xml" Id="R8a3a63f99f6245e2" /><Relationship Type="http://schemas.openxmlformats.org/officeDocument/2006/relationships/slide" Target="/ppt/slides/slide6.xml" Id="R5ddd6c324eec4768" /><Relationship Type="http://schemas.openxmlformats.org/officeDocument/2006/relationships/slide" Target="/ppt/slides/slide7.xml" Id="R6db606633ce04222" /><Relationship Type="http://schemas.openxmlformats.org/officeDocument/2006/relationships/slide" Target="/ppt/slides/slide8.xml" Id="R33fd40f8a901427a" /><Relationship Type="http://schemas.openxmlformats.org/officeDocument/2006/relationships/slide" Target="/ppt/slides/slide9.xml" Id="R88f8005504964ffe" /><Relationship Type="http://schemas.openxmlformats.org/officeDocument/2006/relationships/slide" Target="/ppt/slides/slide10.xml" Id="R2c1fa1625fe04d44" /><Relationship Type="http://schemas.openxmlformats.org/officeDocument/2006/relationships/slide" Target="/ppt/slides/slide11.xml" Id="R11e5d31bfe534636" /><Relationship Type="http://schemas.openxmlformats.org/officeDocument/2006/relationships/slide" Target="/ppt/slides/slide12.xml" Id="Ra3b6afbbfef342a7" /><Relationship Type="http://schemas.openxmlformats.org/officeDocument/2006/relationships/slide" Target="/ppt/slides/slide13.xml" Id="R1fe9142578ce45e8" /><Relationship Type="http://schemas.openxmlformats.org/officeDocument/2006/relationships/slide" Target="/ppt/slides/slide14.xml" Id="Rfb5e99cefbf94348" /><Relationship Type="http://schemas.openxmlformats.org/officeDocument/2006/relationships/slide" Target="/ppt/slides/slide15.xml" Id="R36c1bdf1585142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d3f811d072e4d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12f906f2d04114" /><Relationship Type="http://schemas.openxmlformats.org/officeDocument/2006/relationships/notesMaster" Target="/ppt/notesMasters/notesMaster1.xml" Id="Re59399b7a3ed41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b2ad68d4d74a30" /><Relationship Type="http://schemas.openxmlformats.org/officeDocument/2006/relationships/notesMaster" Target="/ppt/notesMasters/notesMaster1.xml" Id="R789fee96fca64f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a4eeb033c744fb" /><Relationship Type="http://schemas.openxmlformats.org/officeDocument/2006/relationships/notesMaster" Target="/ppt/notesMasters/notesMaster1.xml" Id="Rff54a1faf74545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f1dc937bb744e5" /><Relationship Type="http://schemas.openxmlformats.org/officeDocument/2006/relationships/notesMaster" Target="/ppt/notesMasters/notesMaster1.xml" Id="Rc6103af3e4574d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5ae1edbe5b4da9" /><Relationship Type="http://schemas.openxmlformats.org/officeDocument/2006/relationships/notesMaster" Target="/ppt/notesMasters/notesMaster1.xml" Id="Rd3e4c7ec4d1346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cf016dda77493a" /><Relationship Type="http://schemas.openxmlformats.org/officeDocument/2006/relationships/notesMaster" Target="/ppt/notesMasters/notesMaster1.xml" Id="R01d2f566dfe140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0b01b3043242ab" /><Relationship Type="http://schemas.openxmlformats.org/officeDocument/2006/relationships/notesMaster" Target="/ppt/notesMasters/notesMaster1.xml" Id="Rb0d4e0c95bcf40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54e574890894a08" /><Relationship Type="http://schemas.openxmlformats.org/officeDocument/2006/relationships/notesMaster" Target="/ppt/notesMasters/notesMaster1.xml" Id="R8e8c8fdac8784b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cba82b18714354" /><Relationship Type="http://schemas.openxmlformats.org/officeDocument/2006/relationships/notesMaster" Target="/ppt/notesMasters/notesMaster1.xml" Id="Rd5e119f4c65144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3305309fb14a37" /><Relationship Type="http://schemas.openxmlformats.org/officeDocument/2006/relationships/notesMaster" Target="/ppt/notesMasters/notesMaster1.xml" Id="R8930b7f08b084c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1d7d7d135134e5b" /><Relationship Type="http://schemas.openxmlformats.org/officeDocument/2006/relationships/notesMaster" Target="/ppt/notesMasters/notesMaster1.xml" Id="R9bc80b5e01e64f5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0705e1672dc4d9f" /><Relationship Type="http://schemas.openxmlformats.org/officeDocument/2006/relationships/notesMaster" Target="/ppt/notesMasters/notesMaster1.xml" Id="R458ef94b1c964ae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7f78351213458d" /><Relationship Type="http://schemas.openxmlformats.org/officeDocument/2006/relationships/notesMaster" Target="/ppt/notesMasters/notesMaster1.xml" Id="Rcd61ea961b354db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1926038c9744b50" /><Relationship Type="http://schemas.openxmlformats.org/officeDocument/2006/relationships/notesMaster" Target="/ppt/notesMasters/notesMaster1.xml" Id="Re167ded886c44c9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d2194ee55eb4597" /><Relationship Type="http://schemas.openxmlformats.org/officeDocument/2006/relationships/notesMaster" Target="/ppt/notesMasters/notesMaster1.xml" Id="R3ac618bd44cb4b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56583d66b74ee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98f1daf57e6409c" /><Relationship Type="http://schemas.openxmlformats.org/officeDocument/2006/relationships/slideLayout" Target="/ppt/slideLayouts/slideLayout2.xml" Id="R8f70b4899a9547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70b4899a9547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bd374a8e4d45e6" /><Relationship Type="http://schemas.openxmlformats.org/officeDocument/2006/relationships/notesSlide" Target="/ppt/notesSlides/notesSlide1.xml" Id="R34b171fcf86442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0b38619aa44ba9" /><Relationship Type="http://schemas.openxmlformats.org/officeDocument/2006/relationships/notesSlide" Target="/ppt/notesSlides/notesSlide2.xml" Id="Rc961576ca8f14bd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ccbb1c1d0f4c9e" /><Relationship Type="http://schemas.openxmlformats.org/officeDocument/2006/relationships/notesSlide" Target="/ppt/notesSlides/notesSlide3.xml" Id="Re494a17731d14b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6e5151b4cc4bd4" /><Relationship Type="http://schemas.openxmlformats.org/officeDocument/2006/relationships/image" Target="/ppt/media/image.png" Id="R9c86d361885545d4" /><Relationship Type="http://schemas.openxmlformats.org/officeDocument/2006/relationships/notesSlide" Target="/ppt/notesSlides/notesSlide4.xml" Id="Re02ca9364cc145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4cf30d9805424f" /><Relationship Type="http://schemas.openxmlformats.org/officeDocument/2006/relationships/image" Target="/ppt/media/image2.png" Id="Rc5d14992e69d4e89" /><Relationship Type="http://schemas.openxmlformats.org/officeDocument/2006/relationships/image" Target="/ppt/media/image3.png" Id="R0acd0be4e6824ffd" /><Relationship Type="http://schemas.openxmlformats.org/officeDocument/2006/relationships/notesSlide" Target="/ppt/notesSlides/notesSlide5.xml" Id="R3827bb3e2c8c48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5b66fdd6684bea" /><Relationship Type="http://schemas.openxmlformats.org/officeDocument/2006/relationships/notesSlide" Target="/ppt/notesSlides/notesSlide6.xml" Id="R8f7064b0996040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45b8e5b0de4fe8" /><Relationship Type="http://schemas.openxmlformats.org/officeDocument/2006/relationships/notesSlide" Target="/ppt/notesSlides/notesSlide7.xml" Id="R0806df51ab3047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e8b14c3d104d43" /><Relationship Type="http://schemas.openxmlformats.org/officeDocument/2006/relationships/image" Target="/ppt/media/image4.png" Id="Rb793451b1fa64d30" /><Relationship Type="http://schemas.openxmlformats.org/officeDocument/2006/relationships/notesSlide" Target="/ppt/notesSlides/notesSlide8.xml" Id="R52ede46156f34a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3df67a72f140ab" /><Relationship Type="http://schemas.openxmlformats.org/officeDocument/2006/relationships/image" Target="/ppt/media/image5.png" Id="Rbbcda79d85a84198" /><Relationship Type="http://schemas.openxmlformats.org/officeDocument/2006/relationships/notesSlide" Target="/ppt/notesSlides/notesSlide9.xml" Id="R58bb500f0ae149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11ba1cc2f348f5" /><Relationship Type="http://schemas.openxmlformats.org/officeDocument/2006/relationships/image" Target="/ppt/media/image6.png" Id="R1528a31ce8c44458" /><Relationship Type="http://schemas.openxmlformats.org/officeDocument/2006/relationships/notesSlide" Target="/ppt/notesSlides/notesSlide10.xml" Id="R99119a03b7c4415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f6db1f8e1d4403" /><Relationship Type="http://schemas.openxmlformats.org/officeDocument/2006/relationships/image" Target="/ppt/media/image7.png" Id="R44c26deae6174d8e" /><Relationship Type="http://schemas.openxmlformats.org/officeDocument/2006/relationships/notesSlide" Target="/ppt/notesSlides/notesSlide11.xml" Id="R6c772159fb3945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b5e9fb8262492c" /><Relationship Type="http://schemas.openxmlformats.org/officeDocument/2006/relationships/image" Target="/ppt/media/image8.png" Id="R8510d9aa229a4df9" /><Relationship Type="http://schemas.openxmlformats.org/officeDocument/2006/relationships/notesSlide" Target="/ppt/notesSlides/notesSlide12.xml" Id="Rd21421fa142d45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14c5f3ce224a78" /><Relationship Type="http://schemas.openxmlformats.org/officeDocument/2006/relationships/image" Target="/ppt/media/image9.png" Id="R42b42a342dc34207" /><Relationship Type="http://schemas.openxmlformats.org/officeDocument/2006/relationships/notesSlide" Target="/ppt/notesSlides/notesSlide13.xml" Id="Rb648f0df039d41a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59b0355e2444b1" /><Relationship Type="http://schemas.openxmlformats.org/officeDocument/2006/relationships/notesSlide" Target="/ppt/notesSlides/notesSlide14.xml" Id="R10c39e1ad4a8409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cdd7fb2a0f459e" /><Relationship Type="http://schemas.openxmlformats.org/officeDocument/2006/relationships/notesSlide" Target="/ppt/notesSlides/notesSlide15.xml" Id="R8d10dd76f0cd431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EB6467-B784-4D69-AD35-F970D4FC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783E9-301C-43DE-9E0D-54D4E231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B3260-3B29-4428-B6EF-FE7B1996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EXECUTIVE SUMMARY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575504-5070-497A-8E62-53A5BE87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DCB84-0FBD-4C09-BAD4-5BB96942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674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2DBEDD-28B2-40FB-9B01-294FF7C0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67437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16213E"/>
              </a:gs>
              <a:gs pos="100000">
                <a:srgbClr val="2A9D8F"/>
              </a:gs>
            </a:gsLst>
            <a:lin ang="6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D78A3C-E584-4850-8B79-D7CCFEE2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8001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Prevedere disoccupazione e occupazione in Italia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4A2342-C792-4E1F-8C28-18CDB935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7239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F4F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6F4F1"/>
                </a:solidFill>
                <a:latin typeface="Aptos"/>
                <a:ea typeface="Aptos"/>
                <a:cs typeface="Aptos"/>
              </a:rPr>
              <a:t>Dati ISTAT regionali, PIL come fattore esterno e modelli OLS/ML per trasformare il forecast in priorità di intervento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113B0A-8FF6-4A34-ADE5-1219EFB9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E945ED-0252-46CD-9C85-CCC2A5C1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EA7E2-301C-4EE3-B4BC-B845FE05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2047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9C46A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9C46A"/>
                </a:solidFill>
                <a:latin typeface="Aptos Display"/>
                <a:ea typeface="Aptos Display"/>
                <a:cs typeface="Aptos Display"/>
              </a:rPr>
              <a:t>0.80 p.p.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790AC-EB52-4EC9-BBC6-E5D7D51F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0025"/>
            <a:ext cx="2047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errore medio disoccupazione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98B68F-A802-4A7B-8D02-E0E3FC0F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57675"/>
            <a:ext cx="2047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punti percentuali | Random Forest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2E0FB9-3ECD-4FBC-BFFE-6F390A92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4290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860A9-9081-4037-A05C-3CD45150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42900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7B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B78381-3BDB-4A17-BC66-11AC40F2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581400"/>
            <a:ext cx="2047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rPr>
              <a:t>15.4k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B1E2C9-47C6-4E08-993A-F69EAA59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10025"/>
            <a:ext cx="2047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errore medio occupati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5B8CF1-F1DA-4F06-A8D0-CE60B685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257675"/>
            <a:ext cx="2047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migliaia di persone | lag-1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7B31FA-EC24-40D8-BC32-19F41F24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4290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22C544-DFA6-451C-994F-26A5247D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42900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A76D2B-90A5-43C4-887B-7CFB6685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581400"/>
            <a:ext cx="2047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F1 0.92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E85F9A-FCB8-4A47-A466-96DD948D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010025"/>
            <a:ext cx="2047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regioni critiche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F700D0-D9AA-425F-A7DD-88C0F481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257675"/>
            <a:ext cx="2047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classificazione | Logistic Regression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42B093-0B2E-43B2-8958-B8970D73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0668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9C46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9C46A"/>
                </a:solidFill>
                <a:latin typeface="Aptos"/>
                <a:ea typeface="Aptos"/>
                <a:cs typeface="Aptos"/>
              </a:rPr>
              <a:t>Messaggio chiave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24AD85-429A-4D1F-952B-43870584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Il ML individua meglio le aree a rischio, ma la risposta deve essere territoriale: investimenti produttivi, competenze tecniche e politiche mirate sui NEET.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C1AF7C-340E-4B6D-AB6D-5AC86AC7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62500"/>
            <a:ext cx="2714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F4F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6F4F1"/>
                </a:solidFill>
                <a:latin typeface="Aptos"/>
                <a:ea typeface="Aptos"/>
                <a:cs typeface="Aptos"/>
              </a:rPr>
              <a:t>Regioni prioritarie: Campania, Sicilia, Calabria, Puglia, Sardegna.</a:t>
            </a:r>
          </a:p>
        </p:txBody>
      </p:sp>
    </p:spTree>
    <p:extLst>
      <p:ext uri="{BB962C8B-B14F-4D97-AF65-F5344CB8AC3E}">
        <p14:creationId xmlns:p14="http://schemas.microsoft.com/office/powerpoint/2010/main" val="130481825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B18430-8F88-491C-9EA8-F36B0A76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0CBBC-6611-4E9C-AD39-A41C831D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2369E1-9FD4-40B4-A4E6-9348B56F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NARRATIVE SPINE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25A02-4601-42DC-8FB6-39DC381A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BFDB6-F4B7-4054-8E1E-2CDEB463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Una lettura lineare: dai dati alla decisione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67B375-3386-46BD-9227-77618EFA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La presentazione segue il percorso analitico del progetto e chiude con raccomandazioni operative.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0081B5-736E-4847-AC85-584F58EF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876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48BC08-B709-4A9C-8FAC-3A90BA0C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62175"/>
            <a:ext cx="390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EDA: differenze territoriali e indicatori chiave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9B896-0178-45E0-9FD1-A8B4CD47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876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EA896F-15C0-42B1-ABD9-FCBCE38D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14675"/>
            <a:ext cx="390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Forecasting: previsione con feature laggate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5AC2D9-0A1C-49C9-B818-14B17E92B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876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4BEE27-228F-45EE-9758-3E47CB9B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67175"/>
            <a:ext cx="390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Confronto OLS vs ML: quando la complessità 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F5D964-F9D2-4552-BF5E-42DE8A21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876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6A994E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6A994E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0D5132-867C-4977-9132-032B7055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62175"/>
            <a:ext cx="390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Policy insights: regioni prioritarie e leve di intervento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25862C-30D5-4063-8F16-C1C527E2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00375"/>
            <a:ext cx="876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8E6C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8E6C8A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F823DB-10C4-48F2-81FA-53574D2C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14675"/>
            <a:ext cx="390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Classificazione criticità: strumento decisionale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5582B6-F1E9-4F85-B825-9B6D00F4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52875"/>
            <a:ext cx="876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E9C46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E9C46A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475F32-9574-49A0-A2C0-9C560161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067175"/>
            <a:ext cx="390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Conclusione: cosa fare per migliorare l’occupazione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5A9166-796E-4605-9A90-5C08DE67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Obiettivo: non solo prevedere valori, ma capire dove intervenire e con quali strumenti.</a:t>
            </a:r>
          </a:p>
        </p:txBody>
      </p:sp>
    </p:spTree>
    <p:extLst>
      <p:ext uri="{BB962C8B-B14F-4D97-AF65-F5344CB8AC3E}">
        <p14:creationId xmlns:p14="http://schemas.microsoft.com/office/powerpoint/2010/main" val="192435508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C0C867-79E5-4CD7-9E17-ADAE0DC8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ED596B-9365-42A8-85C0-9D0E886C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06BE34-4F23-4FF3-9CE0-07FB64DC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DATI E METODOLOGIA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072028-A7A0-46AD-B7D3-E68BFD03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63E869-4107-4259-BCDE-D193D1E6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Il panel collega mercato del lavoro, PIL e fragilità giovanile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F22EE6-B470-4FD4-9F1E-E814ED15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Unità di analisi: regione/provincia autonoma per anno; modello supervisionato con variabili dell’anno precedente.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099A86-F99E-4B0C-862E-8D2BA219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89B5B6-13C0-4033-9064-40B5A4D3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77F6AE-4981-45CA-A309-98ACB0CC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1666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rPr>
              <a:t>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0330C4-686D-43CA-97C0-AD1F4562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81275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territori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D6264C-BB0A-4B4B-9E9C-9FE02FFA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regioni + province autonome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9A35D0-89C2-47E1-8658-400EB5E6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0025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898E3-6CD5-4051-9B37-08B1F6B2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002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7B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E55617-AD85-4224-8588-B9B5FC46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52650"/>
            <a:ext cx="1666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rPr>
              <a:t>2018–2025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436615-7913-43E6-AD86-F9EFB044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81275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target lavoro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8FDA3E-5E7B-4854-A62E-942BA714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28925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disoccupazione, occupati, NEET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823A30-CCE5-4063-A1C5-585959AA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0025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41EF0B-029B-47B2-B52F-026B6C8A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002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AC4396-ECC5-4AD2-ADA0-062760A1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52650"/>
            <a:ext cx="1666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2018–2024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9CB890-E2D5-4A08-885D-0A895C4A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81275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campione con PIL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BF961E-034A-4794-A097-DCDCB991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28925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PIL disponibile fino al 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858D6-2B48-463E-AA3D-2E961AFF9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0025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F5803C-2F5B-4CE0-B386-46683984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002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9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FE0A2F-9D16-4FC6-B180-8B31734D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52650"/>
            <a:ext cx="1666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A994E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6A994E"/>
                </a:solidFill>
                <a:latin typeface="Aptos Display"/>
                <a:ea typeface="Aptos Display"/>
                <a:cs typeface="Aptos Display"/>
              </a:rPr>
              <a:t>147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CF4E11-1AA3-4D1C-B142-16C0D991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81275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osservazioni forecast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4B3170-3FDE-42F1-A38A-D223819C7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28925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21 territori x 7 anni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7A60B7-190B-4184-9C00-5F22A1CF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290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6075B6-0128-4DF6-A8EE-3D990533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62375"/>
            <a:ext cx="876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Target: tasso di disoccupazione e occupati in migliaia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4EAA74-D7EB-4F4D-BC9C-65B41981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481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EEF04B-4485-4FEA-847C-DB8A2292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81475"/>
            <a:ext cx="876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Predittori: lag dei target, PIL, PIL per occupato, NEET, territorio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17C4B2-1E41-4D45-8D2C-1BF9EB9A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A62433-3221-4653-9E37-7E03BAB0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00575"/>
            <a:ext cx="876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Split temporale: si allena sul passato e si testa sugli anni successivi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CE2674-9F80-4166-9177-EF306334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86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82453C-1E6A-46E5-A891-11CDDBB4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19675"/>
            <a:ext cx="876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Policy layer: ranking delle aree dove il rischio occupazionale è più alto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C4505A-45D6-4755-BD78-CEC92BF7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La scelta metodologica evita leakage: il 2025 viene previsto usando informazioni disponibili al 2024.</a:t>
            </a:r>
          </a:p>
        </p:txBody>
      </p:sp>
    </p:spTree>
    <p:extLst>
      <p:ext uri="{BB962C8B-B14F-4D97-AF65-F5344CB8AC3E}">
        <p14:creationId xmlns:p14="http://schemas.microsoft.com/office/powerpoint/2010/main" val="30470076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E05099-156C-4C45-BC17-D9A70DE1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963E9D-90E8-4CAC-88AA-DC939152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794B20-137A-4E3A-8CA1-7C62AB33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EDA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5E9DD-8346-4B9F-828C-98D79AB1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F1F452-308B-42E8-AAEB-23C095FD9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La disoccupazione 2024 è concentrata nel Mezzogiorno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5EC92C-7FAE-4EBA-B8D8-8F516971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Le differenze territoriali sono il primo segnale: il problema non è omogeneo sul territorio nazionale.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7C4DE6-A0E1-46F0-8047-F657F218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7239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6d361885545d4"/>
          <a:stretch xmlns:a="http://schemas.openxmlformats.org/drawingml/2006/main"/>
        </p:blipFill>
        <p:spPr>
          <a:xfrm xmlns:a="http://schemas.openxmlformats.org/drawingml/2006/main">
            <a:off x="628650" y="1735931"/>
            <a:ext cx="7086600" cy="3100388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D2D9F2-527C-4D26-A216-A3526881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6896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Classifica regionale 2024: disoccupazione e occupati.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ED2B32-8A1A-412C-B003-CEE893A6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09750"/>
            <a:ext cx="2571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0012A1-8009-4D53-9AA3-42C46236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097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AB4DAE-9DBF-4CFB-8212-48B4FCE3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62150"/>
            <a:ext cx="2238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15.90%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708111-BD17-4903-8779-8A92A7A2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90775"/>
            <a:ext cx="22383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Campania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99BDBC-F197-4707-8073-7BB8A715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38425"/>
            <a:ext cx="22383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disoccupazione 2024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92170B-7EEB-42AE-BC6E-299A5682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2571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0BD510-08CB-44FA-B635-8591A1B5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A3EF58-138C-437E-8807-8425816C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295650"/>
            <a:ext cx="2238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13.42%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66724C-9452-4902-B991-FF3BF412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724275"/>
            <a:ext cx="22383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Calabria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3E32B2-33C1-4A6E-A445-EC93A3BF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971925"/>
            <a:ext cx="22383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disoccupazione 2024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13128A-F66C-4D81-B924-7F0329FA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76750"/>
            <a:ext cx="2571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5CBC6C-0D22-46AB-8FB7-B695F4AF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767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EE5945-34EB-4789-AB43-7B9AFD73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629150"/>
            <a:ext cx="2238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rPr>
              <a:t>4.41M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6A8D02-E3E2-4AC5-92D8-B5FEAB78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057775"/>
            <a:ext cx="22383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Lombardia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470A15-E3DE-46CE-A6C2-17C44BA6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305425"/>
            <a:ext cx="22383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occupati 2024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58BE7D-D0CA-4940-BE69-6E553AF4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Il ranking indica una frattura territoriale: alta disoccupazione al Sud, massa occupazionale più forte al Nord.</a:t>
            </a:r>
          </a:p>
        </p:txBody>
      </p:sp>
    </p:spTree>
    <p:extLst>
      <p:ext uri="{BB962C8B-B14F-4D97-AF65-F5344CB8AC3E}">
        <p14:creationId xmlns:p14="http://schemas.microsoft.com/office/powerpoint/2010/main" val="12155676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0632C6-595A-4385-9AAF-A0358679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FD91F3-7B18-411C-8721-2842A3C4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8BAFF-CA24-4EC5-9B0A-986E2336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EDA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93C927-9724-4745-B9FD-3DB861D7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C1595E-CC90-4040-9CEA-3769990A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PIL, occupazione e NEET misurano dimensioni diverse del problema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2C91A7-0729-4E54-BAC2-14A22F8D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Il PIL assoluto spiega la scala economica; NEET e PIL per occupato aiutano a leggere la fragilità.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224A4C-ACA1-48CB-B6AB-ABA31CE9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002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d14992e69d4e89"/>
          <a:stretch xmlns:a="http://schemas.openxmlformats.org/drawingml/2006/main"/>
        </p:blipFill>
        <p:spPr>
          <a:xfrm xmlns:a="http://schemas.openxmlformats.org/drawingml/2006/main">
            <a:off x="932089" y="1676400"/>
            <a:ext cx="4327071" cy="30289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1BD543-A8B9-4BD3-A41C-C53ECF80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743450"/>
            <a:ext cx="461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Correlazioni tra variabili principali.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9B753C-D1CB-4A8B-B060-CA751EAE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600200"/>
            <a:ext cx="5429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cd0be4e6824ffd"/>
          <a:stretch xmlns:a="http://schemas.openxmlformats.org/drawingml/2006/main"/>
        </p:blipFill>
        <p:spPr>
          <a:xfrm xmlns:a="http://schemas.openxmlformats.org/drawingml/2006/main">
            <a:off x="6029325" y="2311400"/>
            <a:ext cx="5276850" cy="17589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ECE6A2-097C-4E7B-92D2-6BD3F1C7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4743450"/>
            <a:ext cx="508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PIL per occupato vs disoccupazione; PIL assoluto vs occupati.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B6D175-E06E-4EC7-8776-9F7E3659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5AB31-2DC3-4A50-96D3-586F5D9C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CBCEE0-8A25-4AF8-9E49-F13D7307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391150"/>
            <a:ext cx="1666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rPr>
              <a:t>0.98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A538FA-2DEC-4C46-9198-7BEB7C88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5819775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PIL ↔ occupati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D93FAA-F29F-4AC3-8783-49A06C5E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6067425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correlazione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9F7AA1-99F6-4050-A4E3-29BB90B7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3875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0D2320-D167-47E2-8C58-C6A42BA5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387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4B3F11-5716-4AB3-A38F-AB8BACE2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391150"/>
            <a:ext cx="1666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0.96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6CE400-403B-482F-AF59-2CCD3AAE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819775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NEET ↔ disoccupazione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729CE6-BB43-458A-82CA-F39945EC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6067425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correlazione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510999-B873-42D7-9B24-BF5D0C67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23875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A7E7A8-18E6-4FD1-8019-FBEA3865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2387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7B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C82140-01CF-45FD-ADD4-F9B5ECC6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391150"/>
            <a:ext cx="1666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rPr>
              <a:t>-0.67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70C4DF-373B-48D0-998C-458D8D1E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5819775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PIL/occupato ↔ disoccupazione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42FB2A-B176-4C27-BEAF-DE25577F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6067425"/>
            <a:ext cx="1666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relazione negativa</a:t>
            </a:r>
          </a:p>
        </p:txBody>
      </p:sp>
    </p:spTree>
    <p:extLst>
      <p:ext uri="{BB962C8B-B14F-4D97-AF65-F5344CB8AC3E}">
        <p14:creationId xmlns:p14="http://schemas.microsoft.com/office/powerpoint/2010/main" val="89655778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62C2BF-3851-4854-A25A-C083E5F9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3CA9F5-4A06-4886-9EF2-7DE3B948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0E7AE4-AD25-4A19-AE76-14A95C0B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FORECASTING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92C587-65A5-48B7-810E-3654838B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902BE-A2AE-4813-BDBA-C56B52CB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Il forecast usa solo informazioni disponibili nell’anno precedente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F7F69E-831D-4602-B3CC-91A32110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La logica è progettata per rispondere alla domanda: cosa posso sapere oggi per stimare il rischio domani?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6AADB4-BA81-4735-BB60-F9631756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3812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0AD57-4E59-4F3F-9B49-FC0F8185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28875"/>
            <a:ext cx="19050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rPr>
              <a:t>Input t-1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5B2261-AF47-4545-BB52-C153FC05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71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7548C3-CD37-453D-A797-14A944A4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905125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disoccupazione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40F35A-F922-4A84-BF1F-DF30F4B3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81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53350F-4A02-4872-9B12-D012C436D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114675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occupati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F62D52-2B52-43EA-BEC7-D4B7995F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90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BC707F-56C5-4E64-93A1-4B5B7ABB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324225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PIL e PIL/occupato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934D3A-9324-44B3-B850-870EB567A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004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DA3D75-B433-4D64-94F2-30FD88E9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533775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NEET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427153-27EC-42D1-AFA3-4A50A1E4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479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57826E-6E44-4B3B-9A50-00DAE382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33650"/>
            <a:ext cx="323850" cy="4572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996991-C4A1-4604-AA9B-5CDDF604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19300"/>
            <a:ext cx="2476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8DE4B4-9F1A-4498-8899-1F1AA57B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47900"/>
            <a:ext cx="19050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rPr>
              <a:t>Modelli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C17719-4C04-4557-8994-877DAE7D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098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7B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1E4988-3AA3-4318-9617-D937314F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743200"/>
            <a:ext cx="1952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Naive lag-1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2C998C-373E-422A-82F8-E998FDB3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28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7B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56E265-2AAB-47DD-8A40-069A586E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62275"/>
            <a:ext cx="1952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OLS classica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9BCEB0-5ED4-440C-82AF-19CAEF36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480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7B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951034-744F-4871-9C63-7E2DE1B0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181350"/>
            <a:ext cx="1952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Ridge / ElasticNet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82C7FA-3995-4CD9-9FAA-E5F69F39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671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7B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9F9F72-1A7C-4CE9-840B-266535D8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400425"/>
            <a:ext cx="1952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Random Forest / GB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DCA673-019B-4BEB-BD9B-C64B0224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09800"/>
            <a:ext cx="23812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281BC3-0D54-45C3-9E86-B6C7A423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28875"/>
            <a:ext cx="19050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Output 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B24961-DDB2-47EA-A1A1-F129B685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71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4E27B2-031B-4037-ABD2-4DCC775D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905125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disoccupazione prevista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A193CA-533F-4829-8E2E-1EFC6392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81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28B579-4BFD-4A04-89A5-EE2611331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3114675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occupati previsti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FF7D95-058A-4D58-8545-F6EA8D25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90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299B49-BE85-489D-8685-E04D8AE9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3324225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probabilità criticità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53E711-54FD-43D6-AA39-FCA19644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004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7958CE-3C75-45F9-9B94-4AD69D87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3533775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priorità policy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F5A196-D88F-40B6-8F06-D7D49146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La previsione diventa utile quando si traduce in ranking delle regioni e in azioni occupazionali.</a:t>
            </a:r>
          </a:p>
        </p:txBody>
      </p:sp>
    </p:spTree>
    <p:extLst>
      <p:ext uri="{BB962C8B-B14F-4D97-AF65-F5344CB8AC3E}">
        <p14:creationId xmlns:p14="http://schemas.microsoft.com/office/powerpoint/2010/main" val="5262819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9A30F5-057C-4AFE-8EDC-CF958FA0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4CEBC6-4737-4282-A648-F2E2B5A0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78A80-FA4A-4492-B9C6-BAB9BA49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FORECASTING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86AB8C-DF9C-46E0-9955-5787C863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BE889-E2EE-4DB8-AB6F-451E5D2A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Per la disoccupazione il ML non lineare supera OLS e baseline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A6EBA-51E7-40A2-AC81-6C742AAC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Nel test 2024–2025 Random Forest riduce l’errore rispetto alla regressione classica.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4C8AA6-78D3-4BA2-ADA8-83118D34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76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07AAD3-3836-4952-ACB6-E65A2302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885950"/>
            <a:ext cx="2590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Modello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7B0CC4-4E57-49D2-9957-2ECAE52E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8097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E3E231-9250-455B-BB27-761D2A05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18859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E76692-1C6D-45D7-B5C1-780C5C4E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097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91B438-0646-491D-AB66-0E89A56B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8859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RMSE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9E6A99-5DC8-449A-B639-1B276EAF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0975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B39ED0-93DB-41EE-B292-20D5D3A4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1885950"/>
            <a:ext cx="781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D4FBD1-FADB-4796-8166-064D25E6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28850"/>
            <a:ext cx="276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26C069-952C-4FC8-87A8-53AE64F6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05050"/>
            <a:ext cx="2590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Random Forest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01DA54-6884-4C9A-AA21-D27DC6EE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288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F8BCF9-AF74-47F8-9092-0116CD8C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3050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0.72 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6360CD-5851-4AB3-89EE-363503F7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288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8EEA0E-9D6C-4F9B-AD7D-1BA79096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3050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0E529-427A-487D-ACD0-1112321F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2885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36EB7F-EF1D-41F8-8F92-10C7F46A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2305050"/>
            <a:ext cx="781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64C589-17EA-4211-8692-9C36E2E7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276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63DF75-F290-4267-86F5-053A4FA1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724150"/>
            <a:ext cx="2590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Gradient Boosting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4B70B0-4927-4BD3-A973-D0CAFE35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479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9515B9-66CC-49E4-AAB2-DB44EDC4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7241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0.74 pp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225ADB-91D2-4678-9545-F6FA582F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479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C63D90-D300-49DA-9C41-D31B77D2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241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988CAC-1DCD-49B9-A300-19FA4860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4795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9B149B-7B0D-41F5-A3DE-4EBE4A06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2724150"/>
            <a:ext cx="781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A440CA-BE8D-445A-B3CB-9BC3B836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67050"/>
            <a:ext cx="276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8D2FCA-1FCC-4EAA-A70F-B52EB926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143250"/>
            <a:ext cx="2590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ElasticNet ML lineare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F9253D-B63C-4C64-890E-9234C8E2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670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23F1CD-0A88-4142-BDCC-F8078C2B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432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0.85 pp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708752-F66C-4B3F-A610-4DE666AE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670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16480F-A9F2-4AAC-B574-3DE4CA3B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1432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1.01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972471-2BB0-445C-917D-1FD9BAD6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6705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E746494-86A4-4B7A-805F-72364E42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143250"/>
            <a:ext cx="781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CED660-E7AB-4EA7-8CD6-3998E28E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86150"/>
            <a:ext cx="276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12799E7-A8BD-4E96-A8BD-A3204D5A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62350"/>
            <a:ext cx="2590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Ridge ML lineare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40D0867-386E-483E-A16C-1A47502F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861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E4E807-C329-48AE-89A1-E83A347D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5623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0.88 pp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5A5DD78-34B7-4728-8B26-63A40E7C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861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2B2CEAE-D885-4BBD-9C46-B262D830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5623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1.05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69F7503-1529-479F-BED1-D335FB8F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8615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B4F594-A031-4493-930A-82F55379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562350"/>
            <a:ext cx="781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5C70D2C-71EA-450D-9410-9FBE6A7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276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1BC2A4-AB27-4817-BBAC-372E3579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981450"/>
            <a:ext cx="2590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OLS classica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A3CC169-9A90-4593-B1D7-8826868C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052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13EAFBA-0D4C-47C9-A41E-AE671D01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9814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0.91 pp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896BAE5-A9AA-442C-AC8F-B68113C7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052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2140D1B-4635-4130-BD74-C77FADD9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9814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1.20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9C3BA6D-136C-46DF-A949-00D1F701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0525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69AAF6D-28F2-4631-BAEA-9026F32F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981450"/>
            <a:ext cx="781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0.88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4F37324-3E16-4D0C-B9D2-18AF1636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276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8F085F8-731B-48FA-B7DD-37380A4E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400550"/>
            <a:ext cx="2590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Naive lag-1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6C72684-925C-4668-BAD5-C029CAFA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3243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D9CB64C-ADEB-4F22-93B4-AA7204D5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4005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0.96 pp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0C491C1-7931-44AB-9DF2-3864040C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243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D8CD3F8-3E99-4F31-9DE1-6C58D225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4400550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1.24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C72E4AA-4CEF-4CE1-9E0B-EEF42AE2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32435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0CA79E8-988C-4C6D-9DF4-289ACD83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400550"/>
            <a:ext cx="781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0.87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9EDE9B8-3B05-4304-B223-DDC67DCD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52625"/>
            <a:ext cx="2762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90A851E-3089-49E7-A64A-02AB9115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52625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BD064EB-6F42-4A94-B8DE-4B4CADB7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05025"/>
            <a:ext cx="2428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rPr>
              <a:t>−21%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07814A9-718D-4E31-8714-FB842909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33650"/>
            <a:ext cx="2428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errore vs OLS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97F864B-15DF-472D-80D0-17E06779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81300"/>
            <a:ext cx="2428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MAE Random Forest rispetto a OLS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4946F9F-0EB2-4BA8-8B8C-16DE859C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0"/>
            <a:ext cx="2762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BA4C663-AA89-4945-9534-522F919F0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FC144CF-FABA-44F3-873B-B0E3F7EB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86150"/>
            <a:ext cx="2428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0.72 pp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5912D31-BBF6-471D-BD4C-AE212995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14775"/>
            <a:ext cx="2428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errore medio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DD1E739-24B5-44FF-9CE5-D9816C0C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62425"/>
            <a:ext cx="2428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test 2024–2025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CF876F0-633F-4615-BE2A-DB99F749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57200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13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13E"/>
                </a:solidFill>
                <a:latin typeface="Aptos"/>
                <a:ea typeface="Aptos"/>
                <a:cs typeface="Aptos"/>
              </a:rPr>
              <a:t>Interpretazione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F3DB678-5606-4F3C-8E8A-3CA6FA24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196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La disoccupazione non è descritta bene da una relazione lineare semplice: territorio, persistenza e NEET interagiscono.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D29B525-2CC4-4768-B77A-BCEF6AE9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Il ML serve davvero per prevedere la disoccupazione, ma il vantaggio va letto come supporto alla decisione territoriale.</a:t>
            </a:r>
          </a:p>
        </p:txBody>
      </p:sp>
    </p:spTree>
    <p:extLst>
      <p:ext uri="{BB962C8B-B14F-4D97-AF65-F5344CB8AC3E}">
        <p14:creationId xmlns:p14="http://schemas.microsoft.com/office/powerpoint/2010/main" val="85737221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8CBB63-1F38-4F1E-896C-81625A6E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49F1B9-3BE6-44F4-BE97-95AA46F8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54D390-1DEB-476F-93B3-4A050A5F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FORECASTING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C2FE8C-2F23-473E-AAD3-40F0A74F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9413BB-E8F6-47C4-A2B6-D3E6BDDF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Per gli occupati vince la persistenza: l’anno precedente basta spesso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DCBD9F-44FC-41F3-8B4A-8AA8CCB5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Il numero di occupati regionali cambia lentamente; la baseline lag-1 batte modelli più complessi.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A148E-B939-48EE-82B4-720DD07F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288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EDC334-9FA3-480E-BCC8-6DEB5110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0500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Modello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4B0949-5E64-4ADF-8BC6-43D64DFC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8288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EE817D-A08B-46DF-B07A-7775D1E0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9050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5FAFAC-F3E3-4A89-99BB-0526F22E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8288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B7A6D8-CF38-4049-A2EB-1ECB8079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19050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7A4107-BFEE-41E7-993C-8F7E8771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82880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FCCA86-4D53-495F-81A1-0CBBA124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90500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6EF8BE-35F8-4EE4-A1B9-17988793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FF5443-5E27-4EB8-B3B7-23AB6F9E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36220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Naive lag-1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D6EC7E-09CF-4FE3-8814-A2D952C0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108564-A086-4017-94DB-37A88221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3622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12.76k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8B18B2-0C19-471D-87C2-AF83D986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2860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365DB6-F63E-4CBB-9247-7E6AD084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3622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1.16%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FD0B7C-31BB-4A81-937E-BF9B72E8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8600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64A9F4-BDFA-493E-B3B4-27A45B26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6220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0.9996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728A32-B9C5-43EA-BB9E-98862C75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432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1CBBC6-0A47-4B3E-A361-F60A8080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81940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Gradient Boosting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2761D1-3BF3-4D80-A93B-98805FCC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432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4DF6E8-E60C-4A85-A2DB-F2D463DB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8194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29.70k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F08ED3-97E8-47CB-A43E-59CB18B8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7432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994D5B-04C8-4DDA-AC8C-5B16B0F3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8194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3.74%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E63CA8-F667-4E57-80D4-7C6B12A2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4320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FCB085-D57F-4E10-B936-3CEB1F5E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81940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0.9978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9D100D-3A1F-46C8-8165-5E3C814E1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04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8BED8C-128F-4220-A4A3-9775257C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27660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Ridge ML lineare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903186-E4BC-487C-84B4-00B0A782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004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D3CD57-1E34-45AE-AC16-7F808A04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2766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31.94k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B59DED-3860-4C66-ADCB-3A5370C7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004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D98E2AD-476D-46FA-B609-4CB67F8A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2766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7.45%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0C6162C-7B12-4590-B023-45E73BAF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20040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B45972-C548-42BC-8E43-E2AC397A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7660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0.9986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BDBC108-5895-440A-A188-E300C4E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041D9B-E2FE-43DB-B4C5-EB6EF39D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73380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OLS classica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AE8113-B3DC-49EB-B660-7D1A46F6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6576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D87BC61-D7D6-4647-972B-782BD169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7338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32.45k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EFC6E5F-1F59-41A0-8168-8170346E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6576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C88029E-9697-44B2-8EFF-C392C209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7338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9.43%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F0B870-9756-44F5-9F9B-55CB7EBB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65760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2E9860-8717-4749-9860-3A12C2AC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73380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0.9985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DB3C1C7-D997-405D-A95E-EAFFE7E9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148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290901-65CD-4B2A-895D-DE4DB6CA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19100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Random Forest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F9E3F8-0737-49EA-BDCB-85819F48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148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41ECA42-72B3-4057-8F32-D57AD1B5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1910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57.32k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62D6CD-F86E-4DBD-BAE9-B750B6D8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148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D77D8AA-09E4-4171-B4C6-1F0638FF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1910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6.08%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D12655D-2FD8-4DD2-9AF0-0AC10E34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11480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F41AB15-7620-4221-B242-B6BDD7E9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19100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0.9896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5115EF2-2695-4104-8D0E-41417961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19250"/>
            <a:ext cx="4762500" cy="3286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93451b1fa64d30"/>
          <a:stretch xmlns:a="http://schemas.openxmlformats.org/drawingml/2006/main"/>
        </p:blipFill>
        <p:spPr>
          <a:xfrm xmlns:a="http://schemas.openxmlformats.org/drawingml/2006/main">
            <a:off x="6648450" y="2370138"/>
            <a:ext cx="4610100" cy="1536700"/>
          </a:xfrm>
          <a:prstGeom xmlns:a="http://schemas.openxmlformats.org/drawingml/2006/main" prst="rect">
            <a:avLst/>
          </a:prstGeom>
        </p:spPr>
      </p:pic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D375144-8D08-4525-A588-E7B5668A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619625"/>
            <a:ext cx="441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Confronto MAE test 2024–2025.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9B23D89-8F50-4E41-94B3-D77328C6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Risultato importante: il Machine Learning non è sempre superiore; per variabili molto persistenti la baseline è il benchmark da battere.</a:t>
            </a:r>
          </a:p>
        </p:txBody>
      </p:sp>
    </p:spTree>
    <p:extLst>
      <p:ext uri="{BB962C8B-B14F-4D97-AF65-F5344CB8AC3E}">
        <p14:creationId xmlns:p14="http://schemas.microsoft.com/office/powerpoint/2010/main" val="159250813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9B54B0-0359-4039-8CFF-22765F73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83195C-1E3B-4A8A-AC7D-661F4F70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09C158-50FA-4543-853F-0F04D5A3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BACKTESTING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CFD888-4369-43E4-9583-500F6A07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646E1-05BD-4F65-8BD6-BED1982F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Il backtesting conferma la robustezza della lettura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E23861-D3E4-42C3-B095-9D15D139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Su tre finestre temporali, Random Forest resta migliore per disoccupazione; lag-1 resta migliore per occupati.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78B22D-886F-4EAD-8018-0051D472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75247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da79d85a84198"/>
          <a:stretch xmlns:a="http://schemas.openxmlformats.org/drawingml/2006/main"/>
        </p:blipFill>
        <p:spPr>
          <a:xfrm xmlns:a="http://schemas.openxmlformats.org/drawingml/2006/main">
            <a:off x="695325" y="2124075"/>
            <a:ext cx="7372350" cy="24574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4A1100-9391-4E02-A1E0-394377C0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48250"/>
            <a:ext cx="7181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MAE medio su finestre rolling.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1B1BB-6C82-4789-B35F-4B1947F8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15339D-BD3B-49F0-92BA-CC309B028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9F98D6-2AAE-4171-BAE5-86DA79FF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6215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rPr>
              <a:t>0.80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E9D068-B551-4FDE-B5F9-4655B523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39077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RF disoccupazione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1CE07A-43DF-49BC-85B6-737D573A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384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MAE medio rolling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5900F-EB66-40CA-A7F5-D979F62B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EAF26-CBC8-4AEB-81C0-A9A9B559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B43577-C016-4545-9CDD-F14C7961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9565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1.37 pp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0AC277-2C52-427C-A9B1-52DB004F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72427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OLS disoccupazione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712B89-1E4F-4408-82F4-643D2ADE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719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MAE medio rolling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28B536-9028-48F9-8CF9-C7842CE9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76750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697495-4529-465C-AAA6-C0CFC603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767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7B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7D2583-5F0B-4A5A-A546-692FC0D6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2915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rPr>
              <a:t>15.4k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F83BE8-B5A3-4EBF-9AF1-D33512F0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05777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lag-1 occupati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325DCA-C524-4145-AEF1-1CC7523F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054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MAE medio rolling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3897F0-3E98-474D-8E5B-A7AB7C06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La validazione temporale sostiene il messaggio: complessità utile sulla disoccupazione, persistenza dominante sugli occupati.</a:t>
            </a:r>
          </a:p>
        </p:txBody>
      </p:sp>
    </p:spTree>
    <p:extLst>
      <p:ext uri="{BB962C8B-B14F-4D97-AF65-F5344CB8AC3E}">
        <p14:creationId xmlns:p14="http://schemas.microsoft.com/office/powerpoint/2010/main" val="32475366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3FB202-04BC-479E-A3CE-71BFBACF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13D85-0A12-4875-8E31-6C87874D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789B2-20B4-4AE6-ADBF-A54D7037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1CB026-D2E1-4F07-9303-BD4CDE594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55C349-592C-4717-996B-B72409EB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La disoccupazione dell’anno precedente domina la previsione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1D2BD6-CF47-43EB-95DB-85CC704D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La persistenza storica è il driver principale; il NEET è il secondo segnale informativo.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345EF-011A-4494-AEDE-726753A5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67627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28a31ce8c44458"/>
          <a:stretch xmlns:a="http://schemas.openxmlformats.org/drawingml/2006/main"/>
        </p:blipFill>
        <p:spPr>
          <a:xfrm xmlns:a="http://schemas.openxmlformats.org/drawingml/2006/main">
            <a:off x="923925" y="1743075"/>
            <a:ext cx="6248400" cy="3124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4D8BA8-DD0C-41B8-96E4-0EB776E7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05375"/>
            <a:ext cx="6419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Feature importance Random Forest.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90CBEA-CD68-40FA-B925-03150841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52625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3EC310-A61D-4DE1-BD56-9FE659621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52625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3D4CF7-019E-41BC-95BA-35D3F453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105025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rPr>
              <a:t>0.93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BB372D-A2D0-4789-A98B-09880DAA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533650"/>
            <a:ext cx="2143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disoccupazione lag-1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9FE72C-3D6F-4B21-AEBD-7F917B13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781300"/>
            <a:ext cx="2143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importanza relativa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EC4C2E-3E02-438D-A177-29702CFD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286125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388E21-AB5D-4904-A3DF-8F854185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286125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1FC05-63BA-46C5-97A3-43F25C09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438525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0.054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F38316-D4A8-4539-92A2-50A86A88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867150"/>
            <a:ext cx="2143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NEET lag-1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F09A33-C4AA-4AAE-9469-C30EBFC0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114800"/>
            <a:ext cx="2143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secondo predittore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AB38A6-E03E-445D-B7C4-E9C7C738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86300"/>
            <a:ext cx="24765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13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13E"/>
                </a:solidFill>
                <a:latin typeface="Aptos"/>
                <a:ea typeface="Aptos"/>
                <a:cs typeface="Aptos"/>
              </a:rPr>
              <a:t>Nota interpretativa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EE5C09-FA94-4E25-AC74-C2334CDDC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33950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Il PIL pesa meno nella previsione puntuale, ma resta decisivo per leggere la qualità economica del territorio.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3E0854-71A7-4623-BF3B-B0EE0303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67400"/>
            <a:ext cx="1009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Il modello dice cosa predice; la policy spiega perché il rischio si concentra e come ridurlo.</a:t>
            </a:r>
          </a:p>
        </p:txBody>
      </p:sp>
    </p:spTree>
    <p:extLst>
      <p:ext uri="{BB962C8B-B14F-4D97-AF65-F5344CB8AC3E}">
        <p14:creationId xmlns:p14="http://schemas.microsoft.com/office/powerpoint/2010/main" val="126841191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50C8D4-EC59-4A4E-89E7-5197902B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9A480-921A-4E3D-B981-244319E5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5A55AB-B462-4DE4-968F-87C32485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POLICY INSIGHTS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688F8C-AD2C-4CFB-AAEC-14EE120C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A75495-CEFD-4969-BF3E-D482AE7A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Le regioni prioritarie combinano disoccupazione alta e PIL per occupato basso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ABA056-2EA9-427B-9373-E5E94434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Il grafico a quadranti traduce il forecast in una mappa decisionale.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0289A-38F6-4C83-8B6B-3E8B9B46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7620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c26deae6174d8e"/>
          <a:stretch xmlns:a="http://schemas.openxmlformats.org/drawingml/2006/main"/>
        </p:blipFill>
        <p:spPr>
          <a:xfrm xmlns:a="http://schemas.openxmlformats.org/drawingml/2006/main">
            <a:off x="1533525" y="1647825"/>
            <a:ext cx="5657850" cy="36004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767726-733B-4D23-AA4E-74E9BD1D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727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Dimensione dei punti = disoccupati stimati.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E5C27-427F-4DE2-8FC3-3FD30C34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09750"/>
            <a:ext cx="1200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0D265D-11AE-4AA3-B306-E253126A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88595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Regione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5079F1-B4D7-473C-ACC6-76624DCC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180975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43F929-1ACA-4442-AC60-015DF69B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85950"/>
            <a:ext cx="74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Disocc. prev.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7C06B6-FE9F-4B3D-A3F3-C687DEFB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4175" y="1809750"/>
            <a:ext cx="685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0F60F8-9950-4D48-A20F-EDC6D116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1885950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A881C9-88C2-449D-A32B-C317AA743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1809750"/>
            <a:ext cx="87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E526C3-5667-4A91-96EC-599FEA17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1885950"/>
            <a:ext cx="704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PIL/occup.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67A902-40F4-42D6-89A1-9C9B54ED2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209800"/>
            <a:ext cx="1200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3FBB74-1763-4A6F-BE7E-A23DB7CD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8600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Campania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BF0095-5F09-43CD-87FC-B3C3C6A6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20980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3FBB02-5217-4BDC-9B6C-FC6FCEC8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286000"/>
            <a:ext cx="74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14.96%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A68956-7446-4107-9B8F-BBBAE1DD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4175" y="2209800"/>
            <a:ext cx="685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AA6575-7C96-4769-A0DE-68380923A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2286000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24.90%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D025C9-55B3-40F1-8CE5-A5BCF407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2209800"/>
            <a:ext cx="87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AA6366-8B22-4181-B811-56DB4732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286000"/>
            <a:ext cx="704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82.6k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105E04-E4CF-4AC7-85E7-7781ABD0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09850"/>
            <a:ext cx="1200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CA6E17-4B6B-4A22-8A28-BC7ECEDA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8605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Sicilia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0E475A-CB49-4909-B82F-E1640EA6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60985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A7D183-8504-499E-8E8D-D170A99F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86050"/>
            <a:ext cx="74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13.03%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A30F43-0EFF-4983-9755-3EA3ACDE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4175" y="2609850"/>
            <a:ext cx="685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B7D401-0A24-4B3A-88C7-6770EDFE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2686050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25.74%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10015F-CC69-4949-8FBE-FA1851F7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2609850"/>
            <a:ext cx="87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1CFFEE-5257-437C-A546-1EE22B1F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686050"/>
            <a:ext cx="704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78.3k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E1F631-9983-4CB7-99A0-437F9DB4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009900"/>
            <a:ext cx="1200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8B7B14-40EC-4B57-B7F9-1CAA3359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8610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Calabria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63184C-02E2-455A-90EA-8C184BAC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00990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AC44D2-4B83-493E-989C-4FF7D3EA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086100"/>
            <a:ext cx="74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13.07%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5438715-C983-401A-9982-E3092457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4175" y="3009900"/>
            <a:ext cx="685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48DCFD-E98E-42D1-BA6C-EF5409DE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086100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26.23%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38E1842-A4E1-4CC2-94DB-54E3E332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3009900"/>
            <a:ext cx="87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03FFA50-6E0E-4E44-B95D-9B31C280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086100"/>
            <a:ext cx="704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76.5k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FE5B4E8-41AC-4934-A8D5-A2215C3C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09950"/>
            <a:ext cx="1200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AD61CB-CC5B-458E-9D3A-68ACE089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8615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Puglia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FF9477-572F-4F66-AC13-11BEEBF1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40995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F59A891-3CF3-459D-B79C-DC9AEF97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486150"/>
            <a:ext cx="74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8.85%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98E9CD-87D9-473F-9063-F3DC4BE2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4175" y="3409950"/>
            <a:ext cx="685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51A7EA4-7CD1-496E-A2F0-936961D3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486150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21.42%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D43279-76FB-4E8C-9151-65536337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3409950"/>
            <a:ext cx="87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D82D601-9FAE-40EC-9808-3D644B59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486150"/>
            <a:ext cx="704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74.6k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D4152A-CD23-4702-85C8-CD13233D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810000"/>
            <a:ext cx="1200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3CAED8C-2B7B-4347-8813-D9BC1B6C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8620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Sardegna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3DCBC9D-0A41-4812-91FA-8A7CC0AD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81000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A75EAAA-F6BD-4E13-88C0-399E7F12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886200"/>
            <a:ext cx="74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7.46%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746FDB9-A3D6-47FA-A032-FF7D905F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4175" y="3810000"/>
            <a:ext cx="685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1DE9F0F-C71E-42B7-B7DD-C872633B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886200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17.79%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C430FEF-D892-4AB6-A81B-C36EDD8F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3810000"/>
            <a:ext cx="87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11EF72C-798D-4B70-BD50-C48E0A7C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886200"/>
            <a:ext cx="704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76.0k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3F15F54-8777-446A-89DE-30EF5382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Quando disoccupazione prevista, NEET e basso PIL per occupato si sovrappongono, serve una risposta integrata lavoro–sviluppo.</a:t>
            </a:r>
          </a:p>
        </p:txBody>
      </p:sp>
    </p:spTree>
    <p:extLst>
      <p:ext uri="{BB962C8B-B14F-4D97-AF65-F5344CB8AC3E}">
        <p14:creationId xmlns:p14="http://schemas.microsoft.com/office/powerpoint/2010/main" val="30511093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3430C9-C618-46F2-A673-F7BA333B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046FEA-F89E-40BB-A8F3-4F798CE5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B9548D-E29A-497D-A767-DFCB6220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POLICY PRIORITY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CB9003-FFCA-4276-ABE3-7FF46860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E64372-405A-4F82-8349-408D7C3F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La priorità 2025 si concentra soprattutto nel Mezzogiorno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538A2-5868-4B9C-BA84-EA2AEF5F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Il ranking combina rischio di disoccupazione, NEET, PIL per occupato e massa stimata di disoccupati.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E6E3DC-83CF-4695-8471-274491A7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6096000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0d9aa229a4df9"/>
          <a:stretch xmlns:a="http://schemas.openxmlformats.org/drawingml/2006/main"/>
        </p:blipFill>
        <p:spPr>
          <a:xfrm xmlns:a="http://schemas.openxmlformats.org/drawingml/2006/main">
            <a:off x="998084" y="1647825"/>
            <a:ext cx="5433332" cy="345757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69D897-5424-4850-9C85-09B200DA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5753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Top regioni per risk score.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EA7C77-DD3F-4469-952C-5BC3C4CC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762125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74E27C-9224-4843-86EB-9248396B0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762125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8FAB4-69D7-48CA-960D-1F4E8A02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914525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292k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51129E-C95B-427E-900A-E9E9150D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343150"/>
            <a:ext cx="2143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Campania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4FBB8A-855C-4B1B-A2A4-432804F2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590800"/>
            <a:ext cx="2143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disoccupati stimati dal forecast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38B7DA-1C60-49FE-ACA5-EA3AD35B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095625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2F7766-F206-4556-90C1-98287F96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095625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56BCC5-96F4-4E9B-9468-35CEB7F9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248025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214k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811B2D-DF77-4CCA-9405-0CDBAD94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676650"/>
            <a:ext cx="2143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Sicilia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F7BBA5-AAAE-4FDC-85F6-22707F77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924300"/>
            <a:ext cx="2143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disoccupati stimati dal forecast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9F2382-D43A-4093-942E-2B54C940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429125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AAAAA9-CE5E-4043-8CD3-653B6C2C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429125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82AB7D-29C8-4D14-B2D1-0E288330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581525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123k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17ED4E-55AD-4DFD-94A7-861FFAB3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5010150"/>
            <a:ext cx="2143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Puglia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669D13-0E8B-4446-AB3F-BB8345257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5257800"/>
            <a:ext cx="2143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disoccupati stimati dal forecast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59BD92-820E-4FF3-98CB-B84BE7BE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La policy dovrebbe partire dalle aree dove il rischio è alto e la capacità produttiva locale è più fragile.</a:t>
            </a:r>
          </a:p>
        </p:txBody>
      </p:sp>
    </p:spTree>
    <p:extLst>
      <p:ext uri="{BB962C8B-B14F-4D97-AF65-F5344CB8AC3E}">
        <p14:creationId xmlns:p14="http://schemas.microsoft.com/office/powerpoint/2010/main" val="29487630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18672A-290F-4765-A00C-3759159E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9E8B8-168F-4314-A3CA-08BBA4A5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99C9FB-5929-4F84-8BEE-DE5C5669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CRITICALITY CLASSIFICATION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C7BABE-1327-4557-A459-C1672D2F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E0645C-AA4D-4F3F-97BE-35C56D4D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La classificazione rende il modello uno strumento decisionale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0BC772-6108-4FFD-B889-3B2A8654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Invece di prevedere solo un valore, il modello segnala quali regioni rischiano di essere critiche.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16B1F-4380-432D-92BD-C7A5AD5E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6286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b42a342dc34207"/>
          <a:stretch xmlns:a="http://schemas.openxmlformats.org/drawingml/2006/main"/>
        </p:blipFill>
        <p:spPr>
          <a:xfrm xmlns:a="http://schemas.openxmlformats.org/drawingml/2006/main">
            <a:off x="989806" y="1695450"/>
            <a:ext cx="5640388" cy="307657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327A5-9C56-4F67-A6A5-4A8A7DB7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0125"/>
            <a:ext cx="5943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Probabilità di regione critica nel 2025.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37D404-6B5F-4448-B417-987C048C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62125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84F2D1-8140-4C1E-B5F6-D4DF1A4B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62125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34E90-2600-46FC-8133-8FF2341C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14525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rPr>
              <a:t>0.93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E09DAC-7F57-4ACD-B2FB-DE0F47EB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431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6BDE73-5B06-4048-90A4-E06BB4F6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908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Logistic Regression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DB2363-92B2-4641-B584-F91F0548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95625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16D74E-748C-4A1F-BA84-A60C3C4A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95625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7B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2ADC0E-464A-43D3-90D9-779E084F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48025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rPr>
              <a:t>0.92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A98653-B0E6-4418-BF39-1246BE7F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766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F1-score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5662EC-7C75-4551-86A3-AF190EC3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924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regioni critiche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4C37B0-DAFB-4CC7-BAEA-5CB9DF34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29125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87D610-0F4B-4075-A91B-23356109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29125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F8FF23-8722-4D5D-BCB1-1AA89D8A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81525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0.97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37778D-D82A-4BD0-A1EA-D2F50810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0101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ROC AUC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AA4E4D-AD5E-42D6-8B66-08524766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2578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separazione classi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10C95A-65EB-42F1-AD37-FD1C4F00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La Logistic Regression è abbastanza interpretabile e funziona bene: utile come early-warning semplice per le regioni critiche.</a:t>
            </a:r>
          </a:p>
        </p:txBody>
      </p:sp>
    </p:spTree>
    <p:extLst>
      <p:ext uri="{BB962C8B-B14F-4D97-AF65-F5344CB8AC3E}">
        <p14:creationId xmlns:p14="http://schemas.microsoft.com/office/powerpoint/2010/main" val="90275825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C859F2-A771-4ED3-AB0B-C60A34FE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874247-E64F-4FAC-81DB-1A09622F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80086F-E5CA-4AF7-A645-9E1624BC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RECOMMENDATIONS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893B97-831F-451F-8C06-76381BFB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15FB0-E61F-49D3-9BAF-7162D593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Cinque leve per migliorare l’occupazione nelle aree prioritarie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8E4018-150A-4B19-AAD7-05262528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Le raccomandazioni seguono direttamente dai cluster: alto rischio, NEET elevato, PIL per occupato basso.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25D93B-DAAF-46AE-9B73-1CBB76FF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00E3F-9963-46FE-A4AC-65FD7AED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495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BEF7B3-E1F6-47E1-861C-FB81C814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600200"/>
            <a:ext cx="447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Investimenti produttivi mirati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193E88-7479-4AAC-95EF-22F0ED9E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9050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Attrarre imprese e filiere nei territori con basso PIL per occupato.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49DA49-4E35-4AB8-9EBB-F6B79375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9CC975-A466-4E20-A87F-376B24BC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95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4C67F8-8F4F-447E-B967-7279568C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381250"/>
            <a:ext cx="447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Formazione tecnica e ITS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AF14E8-91B5-454E-AC30-08DB5353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8605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Allineare competenze ai settori con domanda reale di lavoro.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C2F376-1568-4997-A67D-5D1A7580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445DE4-5AAF-4BD0-84CE-85642EF3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495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D0F5D-DC01-4BCF-B6C3-B10E8EA3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62300"/>
            <a:ext cx="447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Apprendistato e NEET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66308F-BBE2-4769-A549-DBF856CB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Ridurre la distanza giovani–mercato con percorsi scuola-lavoro regionali.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B13A28-3EB0-487F-8E3E-7903F866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624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7B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06DF83-786A-474C-A25A-4A211608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495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907249-AF5D-4DC7-BDAA-BB9C60897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47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Centri per l’impiego potenziati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38CC51-87AC-463E-AD4A-0C458EC7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4815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Matching più rapido su profili, imprese e fabbisogni locali.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B29180-CBAD-4C31-B14F-BAC7D3BD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7B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58CB78-3E2C-4CC3-B5C6-18BAA5C8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495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2F8623-C18F-4959-8A05-F2D0713A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24400"/>
            <a:ext cx="447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Monitoraggio annuale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A6C871-3E84-441A-8ABA-5E0DED00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Valutare NEET, disoccupazione prevista e PIL per occupato, non solo occupati totali.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4FCA10-E8D4-4F65-9942-40B96BF6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790700"/>
            <a:ext cx="20002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2"/>
          </a:solidFill>
          <a:ln xmlns:a="http://schemas.openxmlformats.org/drawingml/2006/main" w="9525">
            <a:solidFill>
              <a:srgbClr val="BFD8D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DBD505-076E-4153-81BF-47969694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574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rPr>
              <a:t>Priorità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ADDA0E-A168-47FB-A2FD-A37AFA59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524125"/>
            <a:ext cx="1524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Campania</a:t>
            </a:r>
          </a:p>
          <a:p xmlns:a="http://schemas.openxmlformats.org/drawingml/2006/main">
            <a:pPr algn="l">
              <a:def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Sicilia</a:t>
            </a:r>
          </a:p>
          <a:p xmlns:a="http://schemas.openxmlformats.org/drawingml/2006/main">
            <a:pPr algn="l">
              <a:def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Calabria</a:t>
            </a:r>
          </a:p>
          <a:p xmlns:a="http://schemas.openxmlformats.org/drawingml/2006/main">
            <a:pPr algn="l">
              <a:def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Puglia</a:t>
            </a:r>
          </a:p>
          <a:p xmlns:a="http://schemas.openxmlformats.org/drawingml/2006/main">
            <a:pPr algn="l">
              <a:def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Sardegna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3DCC5F-913F-4DA3-B828-3A36FAC6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2450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La risposta più efficace combina domanda di lavoro, competenze e riduzione dei NEET.</a:t>
            </a:r>
          </a:p>
        </p:txBody>
      </p:sp>
    </p:spTree>
    <p:extLst>
      <p:ext uri="{BB962C8B-B14F-4D97-AF65-F5344CB8AC3E}">
        <p14:creationId xmlns:p14="http://schemas.microsoft.com/office/powerpoint/2010/main" val="184123739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DA308F-289E-401B-83B2-D3A610EC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334B5-3F5B-49BE-AC86-9A38F5F0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938BF-D303-42DA-820C-E46B0F56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FINAL 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4878A9-E4A7-47E7-BF3A-F2656F7C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4579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Big Data project | ISTAT regional labour market + GDP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F9688-AF49-4D48-A19E-5B9AF1EB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2450"/>
            <a:ext cx="790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Conclusione: prevedere è utile solo se orienta l’intervento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9ECC3-E171-44BD-9F64-AC61996A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Il progetto passa da dati ufficiali a modelli predittivi e chiude con priorità territoriali operative.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EC5DC-E77D-4A85-B124-1A3AD178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62125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15C68A-6CE1-49AF-8E07-DE507A6D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62125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53EDF-6980-4069-BE03-8BB6BFED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14525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rPr>
              <a:t>RF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108F72-AE14-4036-B764-842027FA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343150"/>
            <a:ext cx="2143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migliore per disoccupazione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1D5AF-AA3D-443D-B0E1-FE3774B0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590800"/>
            <a:ext cx="2143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MAE rolling 0.80 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5B0528-40AB-42A8-AFD2-87AC858E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762125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E33EEC-2491-44C0-A24C-18B158DC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762125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7B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29594-DE3D-4BE7-83AD-4BC06977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914525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457B9D"/>
                </a:solidFill>
                <a:latin typeface="Aptos Display"/>
                <a:ea typeface="Aptos Display"/>
                <a:cs typeface="Aptos Display"/>
              </a:rPr>
              <a:t>lag-1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D368E5-355F-47D9-9FFE-40442709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343150"/>
            <a:ext cx="2143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migliore per occupati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4C07E-407A-492F-A1A6-75628084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590800"/>
            <a:ext cx="2143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MAE rolling 15.4k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2B2B82-A633-42D6-AB7D-03879BFC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62125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D01C79-E9B1-41DA-94A3-E5AD10B0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62125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D3A44A-9778-4117-AD52-D8B31BFD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914525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Logit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FEB8AE-5BD4-4D36-93E3-9C4E9C3B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343150"/>
            <a:ext cx="2143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classificazione criticità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1F9687-74F8-41BE-8CC3-04D68968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590800"/>
            <a:ext cx="2143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F1 0.92; ROC AUC 0.97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6C3658-311D-4F36-BFB3-D3E72F74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76625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6213E"/>
                </a:solidFill>
                <a:latin typeface="Aptos Display"/>
                <a:ea typeface="Aptos Display"/>
                <a:cs typeface="Aptos Display"/>
              </a:rPr>
              <a:t>Takeaway finale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1A49C5-30F9-4510-BADB-8BD8767A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93345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La disoccupazione italiana è persistente, territoriale e legata a fragilità sociali come il NEET. Il PIL assoluto spiega la scala economica, ma il PIL per occupato aiuta a capire la capacità del territorio di generare lavoro stabile.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D0A089-6EB8-49CC-BF81-A3BEAB517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62550"/>
            <a:ext cx="962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3250DA-1EC2-4986-AC05-AFEEE8C9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334000"/>
            <a:ext cx="904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Raccomandazione: concentrare politiche attive, formazione tecnica e investimenti produttivi dove disoccupazione prevista, alto NEET e basso PIL per occupato si rafforzano.</a:t>
            </a:r>
          </a:p>
        </p:txBody>
      </p:sp>
    </p:spTree>
    <p:extLst>
      <p:ext uri="{BB962C8B-B14F-4D97-AF65-F5344CB8AC3E}">
        <p14:creationId xmlns:p14="http://schemas.microsoft.com/office/powerpoint/2010/main" val="830939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2026-05-26T22:12:26.9380000Z</dcterms:created>
  <dcterms:modified xsi:type="dcterms:W3CDTF">2026-05-26T22:12:26.9390000Z</dcterms:modified>
</coreProperties>
</file>