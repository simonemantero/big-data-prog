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eea383515e402f" /><Relationship Type="http://schemas.openxmlformats.org/officeDocument/2006/relationships/extended-properties" Target="/docProps/app.xml" Id="R1312361d5d644511" /><Relationship Type="http://schemas.openxmlformats.org/officeDocument/2006/relationships/officeDocument" Target="/ppt/presentation.xml" Id="R44343447015d43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af6cd1a5a34eb9"/>
  </p:sldMasterIdLst>
  <p:notesMasterIdLst>
    <p:notesMasterId xmlns:r="http://schemas.openxmlformats.org/officeDocument/2006/relationships" r:id="Rd848492f34cb45c6"/>
  </p:notesMasterIdLst>
  <p:sldIdLst>
    <p:sldId xmlns:r="http://schemas.openxmlformats.org/officeDocument/2006/relationships" id="256" r:id="R9604cd6fbbb944f2"/>
    <p:sldId xmlns:r="http://schemas.openxmlformats.org/officeDocument/2006/relationships" id="257" r:id="R3c48b8f8a7024c88"/>
    <p:sldId xmlns:r="http://schemas.openxmlformats.org/officeDocument/2006/relationships" id="258" r:id="R7599e2663a5f4706"/>
    <p:sldId xmlns:r="http://schemas.openxmlformats.org/officeDocument/2006/relationships" id="259" r:id="R744a7bc20e0d4f78"/>
    <p:sldId xmlns:r="http://schemas.openxmlformats.org/officeDocument/2006/relationships" id="260" r:id="Ra13216e4c18141de"/>
    <p:sldId xmlns:r="http://schemas.openxmlformats.org/officeDocument/2006/relationships" id="261" r:id="R6c515e8cdc2c4d34"/>
    <p:sldId xmlns:r="http://schemas.openxmlformats.org/officeDocument/2006/relationships" id="262" r:id="Rd1282eb05e6c4492"/>
    <p:sldId xmlns:r="http://schemas.openxmlformats.org/officeDocument/2006/relationships" id="263" r:id="Ree805a608bf24e89"/>
    <p:sldId xmlns:r="http://schemas.openxmlformats.org/officeDocument/2006/relationships" id="264" r:id="Rd06aef2c8b5a4056"/>
    <p:sldId xmlns:r="http://schemas.openxmlformats.org/officeDocument/2006/relationships" id="265" r:id="Rfe2c46c603ff41ed"/>
    <p:sldId xmlns:r="http://schemas.openxmlformats.org/officeDocument/2006/relationships" id="266" r:id="R9295e3289739448a"/>
    <p:sldId xmlns:r="http://schemas.openxmlformats.org/officeDocument/2006/relationships" id="267" r:id="Raee698a363cd4443"/>
    <p:sldId xmlns:r="http://schemas.openxmlformats.org/officeDocument/2006/relationships" id="268" r:id="Re6729f3a90f846a6"/>
    <p:sldId xmlns:r="http://schemas.openxmlformats.org/officeDocument/2006/relationships" id="269" r:id="R87167d1328064116"/>
    <p:sldId xmlns:r="http://schemas.openxmlformats.org/officeDocument/2006/relationships" id="270" r:id="R8025881c4b184e9c"/>
    <p:sldId xmlns:r="http://schemas.openxmlformats.org/officeDocument/2006/relationships" id="271" r:id="Rce9d30fe2ba7489f"/>
    <p:sldId xmlns:r="http://schemas.openxmlformats.org/officeDocument/2006/relationships" id="272" r:id="Rd36c370ed73c42b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af6cd1a5a34eb9" /><Relationship Type="http://schemas.openxmlformats.org/officeDocument/2006/relationships/theme" Target="/ppt/theme/theme1.xml" Id="Ra1103cc2668b4692" /><Relationship Type="http://schemas.openxmlformats.org/officeDocument/2006/relationships/notesMaster" Target="/ppt/notesMasters/notesMaster1.xml" Id="Rd848492f34cb45c6" /><Relationship Type="http://schemas.openxmlformats.org/officeDocument/2006/relationships/presProps" Target="/ppt/presProps.xml" Id="Re1aa8cd2b6e84335" /><Relationship Type="http://schemas.openxmlformats.org/officeDocument/2006/relationships/viewProps" Target="/ppt/viewProps.xml" Id="R8bf076a2f70f4c1f" /><Relationship Type="http://schemas.openxmlformats.org/officeDocument/2006/relationships/tableStyles" Target="/ppt/tableStyles.xml" Id="R4f2518f2c3ea4b20" /><Relationship Type="http://schemas.openxmlformats.org/officeDocument/2006/relationships/slide" Target="/ppt/slides/slide1.xml" Id="R9604cd6fbbb944f2" /><Relationship Type="http://schemas.openxmlformats.org/officeDocument/2006/relationships/slide" Target="/ppt/slides/slide2.xml" Id="R3c48b8f8a7024c88" /><Relationship Type="http://schemas.openxmlformats.org/officeDocument/2006/relationships/slide" Target="/ppt/slides/slide3.xml" Id="R7599e2663a5f4706" /><Relationship Type="http://schemas.openxmlformats.org/officeDocument/2006/relationships/slide" Target="/ppt/slides/slide4.xml" Id="R744a7bc20e0d4f78" /><Relationship Type="http://schemas.openxmlformats.org/officeDocument/2006/relationships/slide" Target="/ppt/slides/slide5.xml" Id="Ra13216e4c18141de" /><Relationship Type="http://schemas.openxmlformats.org/officeDocument/2006/relationships/slide" Target="/ppt/slides/slide6.xml" Id="R6c515e8cdc2c4d34" /><Relationship Type="http://schemas.openxmlformats.org/officeDocument/2006/relationships/slide" Target="/ppt/slides/slide7.xml" Id="Rd1282eb05e6c4492" /><Relationship Type="http://schemas.openxmlformats.org/officeDocument/2006/relationships/slide" Target="/ppt/slides/slide8.xml" Id="Ree805a608bf24e89" /><Relationship Type="http://schemas.openxmlformats.org/officeDocument/2006/relationships/slide" Target="/ppt/slides/slide9.xml" Id="Rd06aef2c8b5a4056" /><Relationship Type="http://schemas.openxmlformats.org/officeDocument/2006/relationships/slide" Target="/ppt/slides/slide10.xml" Id="Rfe2c46c603ff41ed" /><Relationship Type="http://schemas.openxmlformats.org/officeDocument/2006/relationships/slide" Target="/ppt/slides/slide11.xml" Id="R9295e3289739448a" /><Relationship Type="http://schemas.openxmlformats.org/officeDocument/2006/relationships/slide" Target="/ppt/slides/slide12.xml" Id="Raee698a363cd4443" /><Relationship Type="http://schemas.openxmlformats.org/officeDocument/2006/relationships/slide" Target="/ppt/slides/slide13.xml" Id="Re6729f3a90f846a6" /><Relationship Type="http://schemas.openxmlformats.org/officeDocument/2006/relationships/slide" Target="/ppt/slides/slide14.xml" Id="R87167d1328064116" /><Relationship Type="http://schemas.openxmlformats.org/officeDocument/2006/relationships/slide" Target="/ppt/slides/slide15.xml" Id="R8025881c4b184e9c" /><Relationship Type="http://schemas.openxmlformats.org/officeDocument/2006/relationships/slide" Target="/ppt/slides/slide16.xml" Id="Rce9d30fe2ba7489f" /><Relationship Type="http://schemas.openxmlformats.org/officeDocument/2006/relationships/slide" Target="/ppt/slides/slide17.xml" Id="Rd36c370ed73c42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5de6f2d83894b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dcede51026438b" /><Relationship Type="http://schemas.openxmlformats.org/officeDocument/2006/relationships/notesMaster" Target="/ppt/notesMasters/notesMaster1.xml" Id="R0416a868fdda4d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0faca7c4ae4c4d" /><Relationship Type="http://schemas.openxmlformats.org/officeDocument/2006/relationships/notesMaster" Target="/ppt/notesMasters/notesMaster1.xml" Id="Rc355571fe0a449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a88250fd6645a2" /><Relationship Type="http://schemas.openxmlformats.org/officeDocument/2006/relationships/notesMaster" Target="/ppt/notesMasters/notesMaster1.xml" Id="R171de2a697a641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2f44f259bb4e1e" /><Relationship Type="http://schemas.openxmlformats.org/officeDocument/2006/relationships/notesMaster" Target="/ppt/notesMasters/notesMaster1.xml" Id="R98ac5751515f45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06a4f89da94dbd" /><Relationship Type="http://schemas.openxmlformats.org/officeDocument/2006/relationships/notesMaster" Target="/ppt/notesMasters/notesMaster1.xml" Id="Rf1587d972cb24b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f99691f3474cb9" /><Relationship Type="http://schemas.openxmlformats.org/officeDocument/2006/relationships/notesMaster" Target="/ppt/notesMasters/notesMaster1.xml" Id="Ra8f3da61424549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9aa63776d34981" /><Relationship Type="http://schemas.openxmlformats.org/officeDocument/2006/relationships/notesMaster" Target="/ppt/notesMasters/notesMaster1.xml" Id="R24c002424da741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c34b8cc509487b" /><Relationship Type="http://schemas.openxmlformats.org/officeDocument/2006/relationships/notesMaster" Target="/ppt/notesMasters/notesMaster1.xml" Id="R45a2c132ac0341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3c645203cb4c4a" /><Relationship Type="http://schemas.openxmlformats.org/officeDocument/2006/relationships/notesMaster" Target="/ppt/notesMasters/notesMaster1.xml" Id="R9ce6a249b52643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8dc2f3612b4b3b" /><Relationship Type="http://schemas.openxmlformats.org/officeDocument/2006/relationships/notesMaster" Target="/ppt/notesMasters/notesMaster1.xml" Id="Rccc763c683d643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770bab9d64341c4" /><Relationship Type="http://schemas.openxmlformats.org/officeDocument/2006/relationships/notesMaster" Target="/ppt/notesMasters/notesMaster1.xml" Id="R6076c756b7654b6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1d552c7b824f92" /><Relationship Type="http://schemas.openxmlformats.org/officeDocument/2006/relationships/notesMaster" Target="/ppt/notesMasters/notesMaster1.xml" Id="R30d456d7c8d54a8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3a2e4fd6b3f4139" /><Relationship Type="http://schemas.openxmlformats.org/officeDocument/2006/relationships/notesMaster" Target="/ppt/notesMasters/notesMaster1.xml" Id="Re55f423ba0d6411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930d7f25f0445b4" /><Relationship Type="http://schemas.openxmlformats.org/officeDocument/2006/relationships/notesMaster" Target="/ppt/notesMasters/notesMaster1.xml" Id="Rc442628777a1461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ea71a53329e49e9" /><Relationship Type="http://schemas.openxmlformats.org/officeDocument/2006/relationships/notesMaster" Target="/ppt/notesMasters/notesMaster1.xml" Id="R55810fe0a53e4a7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51009f9c5784eb8" /><Relationship Type="http://schemas.openxmlformats.org/officeDocument/2006/relationships/notesMaster" Target="/ppt/notesMasters/notesMaster1.xml" Id="Rf693fea6eeb0447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eba390c56ee40ea" /><Relationship Type="http://schemas.openxmlformats.org/officeDocument/2006/relationships/notesMaster" Target="/ppt/notesMasters/notesMaster1.xml" Id="R3d28d263904f45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8683d04c96406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7bfe41f9b3b4cab" /><Relationship Type="http://schemas.openxmlformats.org/officeDocument/2006/relationships/slideLayout" Target="/ppt/slideLayouts/slideLayout2.xml" Id="R01e879ca230c4b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e879ca230c4b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10e0ea470a4f4e" /><Relationship Type="http://schemas.openxmlformats.org/officeDocument/2006/relationships/notesSlide" Target="/ppt/notesSlides/notesSlide1.xml" Id="R0d53916e7bbe47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d0f4770b864927" /><Relationship Type="http://schemas.openxmlformats.org/officeDocument/2006/relationships/notesSlide" Target="/ppt/notesSlides/notesSlide2.xml" Id="R22eabd8ade184e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351cfe1fad4080" /><Relationship Type="http://schemas.openxmlformats.org/officeDocument/2006/relationships/notesSlide" Target="/ppt/notesSlides/notesSlide3.xml" Id="R9621d8a1657b45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84d1db738c4db6" /><Relationship Type="http://schemas.openxmlformats.org/officeDocument/2006/relationships/image" Target="/ppt/media/image.png" Id="Rb759e279366647fd" /><Relationship Type="http://schemas.openxmlformats.org/officeDocument/2006/relationships/notesSlide" Target="/ppt/notesSlides/notesSlide4.xml" Id="R059f520792394a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dbd9998a9340dc" /><Relationship Type="http://schemas.openxmlformats.org/officeDocument/2006/relationships/image" Target="/ppt/media/image2.png" Id="R12bbfa139e774901" /><Relationship Type="http://schemas.openxmlformats.org/officeDocument/2006/relationships/image" Target="/ppt/media/image3.png" Id="R021db541beeb4d14" /><Relationship Type="http://schemas.openxmlformats.org/officeDocument/2006/relationships/notesSlide" Target="/ppt/notesSlides/notesSlide5.xml" Id="Rab887e71282c47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43b87d7aeb4af3" /><Relationship Type="http://schemas.openxmlformats.org/officeDocument/2006/relationships/notesSlide" Target="/ppt/notesSlides/notesSlide6.xml" Id="Rfc2fc00d4f7d48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e47a26ceba464c" /><Relationship Type="http://schemas.openxmlformats.org/officeDocument/2006/relationships/notesSlide" Target="/ppt/notesSlides/notesSlide7.xml" Id="Rd2fc61c073e242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9c8503f71e4f10" /><Relationship Type="http://schemas.openxmlformats.org/officeDocument/2006/relationships/image" Target="/ppt/media/image4.png" Id="Rf64c8b5eba494249" /><Relationship Type="http://schemas.openxmlformats.org/officeDocument/2006/relationships/notesSlide" Target="/ppt/notesSlides/notesSlide8.xml" Id="Rc301119e10804b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f1eeb3b84644a4" /><Relationship Type="http://schemas.openxmlformats.org/officeDocument/2006/relationships/image" Target="/ppt/media/image5.png" Id="Rc64c25f0b07640a6" /><Relationship Type="http://schemas.openxmlformats.org/officeDocument/2006/relationships/notesSlide" Target="/ppt/notesSlides/notesSlide9.xml" Id="R3379c0db9fcc46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56883bb6284916" /><Relationship Type="http://schemas.openxmlformats.org/officeDocument/2006/relationships/image" Target="/ppt/media/image6.png" Id="R45f2df486d834388" /><Relationship Type="http://schemas.openxmlformats.org/officeDocument/2006/relationships/notesSlide" Target="/ppt/notesSlides/notesSlide10.xml" Id="Rec8bb135563c47a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791087a02043bb" /><Relationship Type="http://schemas.openxmlformats.org/officeDocument/2006/relationships/image" Target="/ppt/media/image7.png" Id="Rd6cb5e3bf48a4e9b" /><Relationship Type="http://schemas.openxmlformats.org/officeDocument/2006/relationships/notesSlide" Target="/ppt/notesSlides/notesSlide11.xml" Id="R38c604144f214f1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f1813ac7ff4329" /><Relationship Type="http://schemas.openxmlformats.org/officeDocument/2006/relationships/image" Target="/ppt/media/image8.png" Id="R4fb5c94e7c7548c9" /><Relationship Type="http://schemas.openxmlformats.org/officeDocument/2006/relationships/notesSlide" Target="/ppt/notesSlides/notesSlide12.xml" Id="R78eb27b9aa5a4bb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1a0d779d4b4d83" /><Relationship Type="http://schemas.openxmlformats.org/officeDocument/2006/relationships/image" Target="/ppt/media/image9.png" Id="R481cd33a36854051" /><Relationship Type="http://schemas.openxmlformats.org/officeDocument/2006/relationships/notesSlide" Target="/ppt/notesSlides/notesSlide13.xml" Id="Reb2c20a7e2d54d5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ce3c8b171d4921" /><Relationship Type="http://schemas.openxmlformats.org/officeDocument/2006/relationships/notesSlide" Target="/ppt/notesSlides/notesSlide14.xml" Id="Rbb16b7025219475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787a783b5241c8" /><Relationship Type="http://schemas.openxmlformats.org/officeDocument/2006/relationships/notesSlide" Target="/ppt/notesSlides/notesSlide15.xml" Id="Rdd0861061f66494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c85d5624434013" /><Relationship Type="http://schemas.openxmlformats.org/officeDocument/2006/relationships/notesSlide" Target="/ppt/notesSlides/notesSlide16.xml" Id="R0c8f903b83de4a6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893c29079b4063" /><Relationship Type="http://schemas.openxmlformats.org/officeDocument/2006/relationships/notesSlide" Target="/ppt/notesSlides/notesSlide17.xml" Id="Rcec97a20f7544bc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3169E1-B495-4EFC-8499-FD7EE9EB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662A5D-2E57-4DD8-8624-02F84499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0EA16-CA58-46C8-84A4-6907EDC3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EXECUTIVE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8FFB40-E958-438E-A63F-7B818C41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579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Big Data project | ISTAT regional labour market + GDP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D2EA3D-C010-4411-8208-D2ADF980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674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992BE6-FC5A-4CA1-A912-2249DE3B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67437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6213E"/>
              </a:gs>
              <a:gs pos="100000">
                <a:srgbClr val="2A9D8F"/>
              </a:gs>
            </a:gsLst>
            <a:lin ang="6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3DF089-4A60-4094-983A-47B873DC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001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Prevedere disoccupazione e occupazione in Italia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0B7FF-B913-4107-9A2A-952CF1CD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7239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6F4F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6F4F1"/>
                </a:solidFill>
                <a:latin typeface="Aptos"/>
                <a:ea typeface="Aptos"/>
                <a:cs typeface="Aptos"/>
              </a:rPr>
              <a:t>Dati ISTAT regionali, PIL come fattore esterno e modelli OLS/ML per trasformare il forecast in priorità di intervento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87BA7B-3EAF-4B22-9254-7F8DF617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62EAE8-187C-4A41-A32D-2DE8A1BC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4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0D54EB-7D50-4B7C-A73E-B5C93DBE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81400"/>
            <a:ext cx="2047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9C46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E9C46A"/>
                </a:solidFill>
                <a:latin typeface="Aptos Display"/>
                <a:ea typeface="Aptos Display"/>
                <a:cs typeface="Aptos Display"/>
              </a:rPr>
              <a:t>0.80 p.p.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CBC01C-178D-4542-9578-6480F09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0025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errore medio disoccupazione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E6F270-5AE0-4E4D-9E01-77878693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57675"/>
            <a:ext cx="2047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punti percentuali | Random Forest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ED8123-55E8-4F4B-BA72-F626248F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290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52C3A0-50F0-4D0F-9064-5C83E3F3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2900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7B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CDBFD9-E3BC-4A17-9CCB-A32C6167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581400"/>
            <a:ext cx="2047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57B9D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457B9D"/>
                </a:solidFill>
                <a:latin typeface="Aptos Display"/>
                <a:ea typeface="Aptos Display"/>
                <a:cs typeface="Aptos Display"/>
              </a:rPr>
              <a:t>15.4k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43112B-1685-41DD-8400-F4496215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10025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errore medio occupati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B29C42-F156-4771-994B-13411AC0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57675"/>
            <a:ext cx="2047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migliaia di persone | lag-1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1DA5A5-F2B6-43F5-BD61-06321AD8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290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F36159-965A-4A31-B8B9-736FABDA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2900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4D5598-9FA0-46F8-AE10-81F62D0D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581400"/>
            <a:ext cx="2047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rPr>
              <a:t>F1 0.92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BC18E1-61A5-4AE5-A553-595159AD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10025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regioni critiche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43F171-C225-485D-97BA-2FE82AA2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257675"/>
            <a:ext cx="2047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classificazione | Logistic Regression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40F892-D47F-4ED8-A69A-B5A13051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668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9C46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9C46A"/>
                </a:solidFill>
                <a:latin typeface="Aptos"/>
                <a:ea typeface="Aptos"/>
                <a:cs typeface="Aptos"/>
              </a:rPr>
              <a:t>Messaggio chiave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EEE135-9EF4-4E34-A596-079B09E9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Il ML individua meglio le aree a rischio, ma la risposta deve essere territoriale: investimenti produttivi, competenze tecniche e politiche mirate sui NEET.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8EC888-E305-425A-B8FD-7EC2AC2F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62500"/>
            <a:ext cx="2714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6F4F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6F4F1"/>
                </a:solidFill>
                <a:latin typeface="Aptos"/>
                <a:ea typeface="Aptos"/>
                <a:cs typeface="Aptos"/>
              </a:rPr>
              <a:t>Regioni prioritarie: Campania, Sicilia, Calabria, Puglia, Sardegna.</a:t>
            </a:r>
          </a:p>
        </p:txBody>
      </p:sp>
    </p:spTree>
    <p:extLst>
      <p:ext uri="{BB962C8B-B14F-4D97-AF65-F5344CB8AC3E}">
        <p14:creationId xmlns:p14="http://schemas.microsoft.com/office/powerpoint/2010/main" val="76109414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5A2C85-C1E1-4EFB-9B5A-A25B713D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6C371F-8E6A-4C06-90E4-287A3824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5ED8D-A614-4414-BB6C-1798111A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NARRATIVE SPINE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28AA5-790A-455A-9AE1-A427C5A3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579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Big Data project | ISTAT regional labour market + GDP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6E414B-7F8E-4D0C-ABED-52B6FF81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7905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Una lettura lineare: dai dati alla decisione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7EB7BE-A2A4-4698-998B-BD906FBD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62075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La presentazione segue il percorso analitico del progetto e chiude con raccomandazioni operative.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5267B-1171-4722-886B-7DCF3D94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876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A9D8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2A9D8F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394FBF-F92E-4496-91CD-B8A3B71C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62175"/>
            <a:ext cx="390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EDA: differenze territoriali e indicatori chiave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35614-6D8C-413C-9EAF-FF7C8147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876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457B9D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457B9D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85854B-19BB-4156-9A96-35F0BEC2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14675"/>
            <a:ext cx="390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Forecasting: previsione con feature laggate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B17A72-DDC2-4DA6-A329-52170E43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876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15A3C5-7E66-438D-ABA1-89834974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67175"/>
            <a:ext cx="390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Confronto OLS vs ML: quando la complessità serve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1D99CF-5203-452A-B4A3-AB149A4D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876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6A994E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6A994E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001A9C-E062-4BD1-A73B-0F168063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62175"/>
            <a:ext cx="390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Policy insights: regioni prioritarie e leve di intervento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B0BEAF-30D3-4857-9B90-F621C7D0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0375"/>
            <a:ext cx="876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8E6C8A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8E6C8A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CD19FE-63A7-41D1-93D6-A0FE3B5B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14675"/>
            <a:ext cx="390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Classificazione criticità: strumento decisionale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B28A8D-D676-4046-AD15-13EBCFE1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52875"/>
            <a:ext cx="876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9C46A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E9C46A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CD52D2-8F90-4343-91DA-3FF9CADA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67175"/>
            <a:ext cx="390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Conclusione: cosa fare per migliorare l’occupazione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575661-0F5A-48E4-AE0E-9538D9B5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Obiettivo: non solo prevedere valori, ma capire dove intervenire e con quali strumenti.</a:t>
            </a:r>
          </a:p>
        </p:txBody>
      </p:sp>
    </p:spTree>
    <p:extLst>
      <p:ext uri="{BB962C8B-B14F-4D97-AF65-F5344CB8AC3E}">
        <p14:creationId xmlns:p14="http://schemas.microsoft.com/office/powerpoint/2010/main" val="202008082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45E804-B093-4230-87E0-86E08F83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49162F-5758-4295-BE27-13AB680F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FA08DB-42AD-4F29-9E6A-D146A97B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DATI E METODOLOGIA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40A29-EB3F-4011-A488-E25FD961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579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Big Data project | ISTAT regional labour market + GDP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7E7E1-BCB5-4F03-A87D-0380F5E9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7905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Il panel collega mercato del lavoro, PIL e fragilità giovanile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6F21A-AAD2-43A5-AE83-AD287D63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62075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Unità di analisi: regione/provincia autonoma per anno; modello supervisionato con variabili dell’anno precedente.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31F008-0780-4D75-89B8-597B69A6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97F42D-E9A9-4C9E-8894-D895190B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B24E3D-5DF8-4CF4-9769-69F8EDF2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1666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A9D8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2A9D8F"/>
                </a:solidFill>
                <a:latin typeface="Aptos Display"/>
                <a:ea typeface="Aptos Display"/>
                <a:cs typeface="Aptos Display"/>
              </a:rPr>
              <a:t>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F7BBAE-A0A5-4C1D-9C79-93D2D19A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81275"/>
            <a:ext cx="1666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territori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332AD4-C5B4-4615-98BB-8E32C819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28925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regioni + province autonome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913D5D-D4E4-4419-B264-1BE2BC33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00250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65D8B8-7E1E-48BF-9D30-FEF0B9AD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002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7B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2D0435-6E1E-475B-B502-B418FF3D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52650"/>
            <a:ext cx="1666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57B9D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457B9D"/>
                </a:solidFill>
                <a:latin typeface="Aptos Display"/>
                <a:ea typeface="Aptos Display"/>
                <a:cs typeface="Aptos Display"/>
              </a:rPr>
              <a:t>2018–2025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94B055-864F-403D-821D-E5239EC6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81275"/>
            <a:ext cx="1666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target lavoro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F71F00-DA48-411C-A24B-55AE224A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28925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disoccupazione, occupati, NEET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5DBE83-520E-4869-B634-CF0CEB3E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00250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CE5F44-14F2-49D7-A5FE-2BCA47FF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002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23D86B-C85F-47DB-88D8-13A51878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52650"/>
            <a:ext cx="1666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rPr>
              <a:t>2018–2024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2DAA8D-4826-4D35-9767-22F6E47F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581275"/>
            <a:ext cx="1666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campione con PIL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F92827-6296-46E3-8221-06A2147F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28925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PIL disponibile fino al 2024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CBA884-A263-4A0D-8132-E34434FF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00250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B61E03-6A0C-4D60-B6FB-98C123DC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002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9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9D53D6-A1E0-48A0-A743-19E184C7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52650"/>
            <a:ext cx="1666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A994E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6A994E"/>
                </a:solidFill>
                <a:latin typeface="Aptos Display"/>
                <a:ea typeface="Aptos Display"/>
                <a:cs typeface="Aptos Display"/>
              </a:rPr>
              <a:t>147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645ED2-586B-4342-BE8F-2207CF24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81275"/>
            <a:ext cx="1666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osservazioni forecast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820463-B657-4433-A29D-98F6E16D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28925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21 territori x 7 anni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ED349E-3C8C-4767-BB3D-C817E360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29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092AC0-463D-411C-9F17-6D6969A3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762375"/>
            <a:ext cx="876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Target: tasso di disoccupazione e occupati in migliaia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835274-5F65-407A-B3E4-E30AAB6C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0B43E8-022B-49DD-9F71-A757FFF6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181475"/>
            <a:ext cx="876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Predittori: lag dei target, PIL, PIL per occupato, NEET, territorio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8D489B-D96D-422B-AA87-74F63336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4B9B73-16FB-4614-9B78-807C4454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600575"/>
            <a:ext cx="876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Split temporale: si allena sul passato e si testa sugli anni successivi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F7E48F-4E75-434B-AA67-9CF9F6FA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86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C4B2D8-596D-4492-95DC-31BF93F4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19675"/>
            <a:ext cx="876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Policy layer: ranking delle aree dove il rischio occupazionale è più alto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8BBE03-EEAF-41BA-822A-15782480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La scelta metodologica evita leakage: il 2025 viene previsto usando informazioni disponibili al 2024.</a:t>
            </a:r>
          </a:p>
        </p:txBody>
      </p:sp>
    </p:spTree>
    <p:extLst>
      <p:ext uri="{BB962C8B-B14F-4D97-AF65-F5344CB8AC3E}">
        <p14:creationId xmlns:p14="http://schemas.microsoft.com/office/powerpoint/2010/main" val="20849733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2E0A3F-43C6-49FC-8C3E-A830074E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B1194F-54B1-497C-A0BF-35AA34E1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EFCFF-E2EE-4135-B286-CB0AC96D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EDA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9ADF23-10BF-46FB-9931-EBC05BF6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579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Big Data project | ISTAT regional labour market + GDP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B16746-7D46-41AE-8EFD-40E5B89E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7905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La disoccupazione 2024 è concentrata nel Mezzogiorno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6EB45-CAA6-41A1-B789-1F6AB70F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62075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Le differenze territoriali sono il primo segnale: il problema non è omogeneo sul territorio nazionale.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946EF2-726D-43BC-9446-5AB81DB4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7239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59e279366647fd"/>
          <a:stretch xmlns:a="http://schemas.openxmlformats.org/drawingml/2006/main"/>
        </p:blipFill>
        <p:spPr>
          <a:xfrm xmlns:a="http://schemas.openxmlformats.org/drawingml/2006/main">
            <a:off x="628650" y="1735931"/>
            <a:ext cx="7086600" cy="3100388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39387A-4CF5-484E-A74C-EE9326AD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6896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Classifica regionale 2024: disoccupazione e occupati.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CCD045-0E13-44AE-BFEE-485D91A0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2571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A49B28-18D1-4167-B9F8-260EDB44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63F1B8-61F3-481D-8FF5-8A0538AD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62150"/>
            <a:ext cx="2238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rPr>
              <a:t>15.90%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FBF21B-FE03-4DCC-9346-EAD93FC1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90775"/>
            <a:ext cx="2238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Campania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97A922-B6FA-41F4-BCD6-64B21376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38425"/>
            <a:ext cx="2238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disoccupazione 2024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43E8EA-636E-4221-9510-5F146D38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2571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43A14B-2773-42D2-BCF1-13B8A9B9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8E24CB-6BA0-4906-83A2-EE4C23FA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95650"/>
            <a:ext cx="2238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rPr>
              <a:t>13.42%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2B26A6-C1FB-4B85-AFF0-7FF9B475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24275"/>
            <a:ext cx="2238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Calabria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137FD4-7C9D-4272-B80F-66E84524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71925"/>
            <a:ext cx="2238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disoccupazione 2024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BBBFB1-1A29-4986-AFC8-9E176585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76750"/>
            <a:ext cx="2571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7F4CB3-1251-4ED9-AF39-5497595C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767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36EF08-2936-40CA-9D30-F57CB7F5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2238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A9D8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2A9D8F"/>
                </a:solidFill>
                <a:latin typeface="Aptos Display"/>
                <a:ea typeface="Aptos Display"/>
                <a:cs typeface="Aptos Display"/>
              </a:rPr>
              <a:t>4.41M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276609-9AFF-4DEE-B904-F3EE3207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057775"/>
            <a:ext cx="2238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Lombardia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D4CF7A-0FA5-4C8D-9BB9-8B3A829A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305425"/>
            <a:ext cx="2238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occupati 2024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8C2466-C356-426F-987E-F6AEE482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Il ranking indica una frattura territoriale: alta disoccupazione al Sud, massa occupazionale più forte al Nord.</a:t>
            </a:r>
          </a:p>
        </p:txBody>
      </p:sp>
    </p:spTree>
    <p:extLst>
      <p:ext uri="{BB962C8B-B14F-4D97-AF65-F5344CB8AC3E}">
        <p14:creationId xmlns:p14="http://schemas.microsoft.com/office/powerpoint/2010/main" val="44196015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616A2B-F651-45CA-8F49-254A9AED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C9E96F-ADCE-4D30-8DC4-5E666098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07FDBA-10F6-4862-981E-75340814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EDA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E4C61-0116-4FEB-91AF-1834594B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579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Big Data project | ISTAT regional labour market + GDP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DD7574-0CF1-41AA-ADB6-FCE39F8A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7905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PIL, occupazione e NEET misurano dimensioni diverse del problema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214FED-F4C4-4886-8386-9C714A60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62075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Il PIL assoluto spiega la scala economica; NEET e PIL per occupato aiutano a leggere la fragilità.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8D76C1-ADD0-4237-90B1-C5066F77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4953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bbfa139e774901"/>
          <a:stretch xmlns:a="http://schemas.openxmlformats.org/drawingml/2006/main"/>
        </p:blipFill>
        <p:spPr>
          <a:xfrm xmlns:a="http://schemas.openxmlformats.org/drawingml/2006/main">
            <a:off x="932089" y="1676400"/>
            <a:ext cx="4327071" cy="30289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AB1709-933A-4A30-8BD8-BF9C04CE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743450"/>
            <a:ext cx="461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Correlazioni tra variabili principali.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1320F0-8ADC-440A-AED4-4C0DC94B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00200"/>
            <a:ext cx="5429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1db541beeb4d14"/>
          <a:stretch xmlns:a="http://schemas.openxmlformats.org/drawingml/2006/main"/>
        </p:blipFill>
        <p:spPr>
          <a:xfrm xmlns:a="http://schemas.openxmlformats.org/drawingml/2006/main">
            <a:off x="6029325" y="2311400"/>
            <a:ext cx="5276850" cy="17589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0C420F-7E4C-4770-83D2-302AC635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743450"/>
            <a:ext cx="508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PIL per occupato vs disoccupazione; PIL assoluto vs occupati.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7A293F-81EE-4F94-98F2-96F952C5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0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7EF319-CE31-4B1D-9128-F948A6B5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FB8C31-2822-450D-9F92-01253319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91150"/>
            <a:ext cx="1666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A9D8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2A9D8F"/>
                </a:solidFill>
                <a:latin typeface="Aptos Display"/>
                <a:ea typeface="Aptos Display"/>
                <a:cs typeface="Aptos Display"/>
              </a:rPr>
              <a:t>0.98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FA663E-31BF-4770-AB81-56A35D81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19775"/>
            <a:ext cx="1666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PIL ↔ occupati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9B7906-CB7D-41A4-9601-8FA380C3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067425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correlazione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770293-D8BC-4F0B-9FF1-DCC2C7A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38750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D527E6-0CD5-422D-B2C9-667B0C5B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387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AA0661-50C8-43E2-9842-A8800593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91150"/>
            <a:ext cx="1666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rPr>
              <a:t>0.96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C88DFF-C740-4425-92F3-72702E57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819775"/>
            <a:ext cx="1666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NEET ↔ disoccupazione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B6EAA3-BD59-4168-93FE-48E989E6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6067425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correlazione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E0C8A8-9132-455A-A012-D1024756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238750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8C5BAC-DAAA-45E5-A281-9F783C77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2387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7B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3FB24F-65C3-4946-8954-F2070956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391150"/>
            <a:ext cx="1666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57B9D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457B9D"/>
                </a:solidFill>
                <a:latin typeface="Aptos Display"/>
                <a:ea typeface="Aptos Display"/>
                <a:cs typeface="Aptos Display"/>
              </a:rPr>
              <a:t>-0.67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6A08D5-55BE-474E-A299-D94A2A1A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5819775"/>
            <a:ext cx="1666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PIL/occupato ↔ disoccupazione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DDC8D8-BD86-4D36-9089-9646740A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6067425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relazione negativa</a:t>
            </a:r>
          </a:p>
        </p:txBody>
      </p:sp>
    </p:spTree>
    <p:extLst>
      <p:ext uri="{BB962C8B-B14F-4D97-AF65-F5344CB8AC3E}">
        <p14:creationId xmlns:p14="http://schemas.microsoft.com/office/powerpoint/2010/main" val="14634732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FBDF40-063F-4B11-B6B7-3B82C45C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D1B17-6B3A-43A8-8547-9165A6F7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338FCE-4B80-4C24-91A4-04FC8A02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FORECASTING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5C3CC5-2603-465F-843F-A2EDD591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579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Big Data project | ISTAT regional labour market + GDP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EB7466-BFAE-492C-962C-01E41752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7905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Il forecast usa solo informazioni disponibili nell’anno precedente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FD8E64-1E13-4B24-BABD-8652C723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62075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La logica è progettata per rispondere alla domanda: cosa posso sapere oggi per stimare il rischio domani?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344B04-8639-493B-93B0-8918257A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2381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421609-B056-4FD1-9F3A-09CAB8BC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28875"/>
            <a:ext cx="1905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A9D8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2A9D8F"/>
                </a:solidFill>
                <a:latin typeface="Aptos Display"/>
                <a:ea typeface="Aptos Display"/>
                <a:cs typeface="Aptos Display"/>
              </a:rPr>
              <a:t>Input t-1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EFFB1D-02DA-41D7-A743-1D1BB60A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718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FB77A9-7FCE-4DD4-9575-0C54CEC4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905125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disoccupazione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7554B9-9E4B-4E84-84CE-01D6B44D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81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E96CB2-151F-45A8-94DA-E7C5EE6B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114675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occupati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65F164-7C05-4C6B-8615-70027C38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909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4FABA8-5C9B-4002-ABD2-14F965C5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324225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PIL e PIL/occupato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BAAF5F-8520-4F03-BD5A-AF55D38F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00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B853B2-4AA7-4168-95C9-BD103498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33775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NEET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538024-ED75-480E-9351-E653B52A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6479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F3A5EA-F6BA-4979-861D-4370A962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33650"/>
            <a:ext cx="323850" cy="457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0A9257-312A-4997-90DE-55CCA6A8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19300"/>
            <a:ext cx="24765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95B29D-5A06-4162-8432-D6A28ABE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47900"/>
            <a:ext cx="1905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57B9D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457B9D"/>
                </a:solidFill>
                <a:latin typeface="Aptos Display"/>
                <a:ea typeface="Aptos Display"/>
                <a:cs typeface="Aptos Display"/>
              </a:rPr>
              <a:t>Modelli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3FE542-E187-4F53-82F8-25F59611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09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7B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17C23D-CA0D-4FB1-A069-A5997537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74320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Naive lag-1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B88B9F-CA8B-47C1-8E51-60844331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7B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5A64A7-7C5A-42C5-827E-C188C3CA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962275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OLS classica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1ED540-543A-432A-870C-F2B0695A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48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7B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D414D9-6B19-474F-A593-CD1DA8E3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8135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Ridge / ElasticNet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0675B3-578E-4753-A050-ED2D9450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67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7B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C0C663-3F21-4E51-90BA-539DE942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400425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Random Forest / GB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6891C1-2049-41DB-B5D0-4558E0BA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09800"/>
            <a:ext cx="2381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03280F-0973-4F73-8434-F8FB0003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28875"/>
            <a:ext cx="1905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rPr>
              <a:t>Output 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9B9EFE-AE16-44A5-A1CC-7E3F497F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718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EC5E17-CBD0-4B36-B79E-5CD700BA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905125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disoccupazione prevista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B2AD1A-27A4-4770-8C3D-72884C3F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81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9B3CA1-C31B-42E6-BDC3-7E518AAE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114675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occupati previsti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394FD1-CA16-4182-96EA-2F6587A3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909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88200D-28F5-494F-8F77-11810CAE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324225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probabilità criticità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9236E3-AEAF-408F-B65D-4AE12DCD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00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F830CF-B170-4D90-9D55-24D873A1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533775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priorità policy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C30DA4-4F4B-46D2-BECC-2C1E35E9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La previsione diventa utile quando si traduce in ranking delle regioni e in azioni occupazionali.</a:t>
            </a:r>
          </a:p>
        </p:txBody>
      </p:sp>
    </p:spTree>
    <p:extLst>
      <p:ext uri="{BB962C8B-B14F-4D97-AF65-F5344CB8AC3E}">
        <p14:creationId xmlns:p14="http://schemas.microsoft.com/office/powerpoint/2010/main" val="14740296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B72257-D0F4-4112-965C-09F1267C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1D69C-EC89-42F0-A559-E79437CA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767F98-C298-4574-A4DC-B100E250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FORECASTING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8B449F-0A9E-47CF-92DD-E9989A83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579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Big Data project | ISTAT regional labour market + GDP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5C2FE5-EAF5-4B19-809F-A5BFD34D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7905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Per la disoccupazione il ML non lineare supera OLS e 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1B107B-ED32-4503-866F-28967C62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62075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Nel test 2024–2025 Random Forest riduce l’errore rispetto alla regressione classica.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E25E16-F9EE-44ED-9960-BE6649C3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76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E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E9368F-325E-4A91-8CA5-524BFCA6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885950"/>
            <a:ext cx="2590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Modello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4C5ABE-8D67-4F80-A46F-01B6789F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E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9DBDF5-76B0-4B0A-A815-A2B92C1C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1885950"/>
            <a:ext cx="97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FEC76E-C3C8-444D-A696-A7D8ACCC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097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E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FB8BF0-0C6F-4038-ABE1-F3929016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885950"/>
            <a:ext cx="97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RMSE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A4D584-6232-4730-9DC4-F6271FCC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E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A61E9C-3CD2-4148-9DAF-67A420B5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1885950"/>
            <a:ext cx="78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D89AA9-6BD5-4969-9B64-EFBCE40F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276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07B0E5-B89F-4ECE-BCCB-B16E589C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05050"/>
            <a:ext cx="2590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F014ED-F9AC-4823-9EBE-59A47C37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288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F1EF11-C746-4422-9F19-34DD2431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305050"/>
            <a:ext cx="97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0.72 pp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0EED66-6910-43E2-B996-E849986D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288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ABE124-2519-4D2A-8149-41B7AC54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305050"/>
            <a:ext cx="97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0.95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D5FDD1-3EDE-4B12-914A-2D5A6A98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28850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69E566-04C1-431A-8D03-8347BFBE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305050"/>
            <a:ext cx="78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0.92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A31123-1C28-4680-9B9F-360FBB86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276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E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9A06C1-D956-4122-B4EB-94A96439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724150"/>
            <a:ext cx="2590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Gradient Boosting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DEEFF4-0023-4828-90AE-E11B91A4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479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E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415869-94BD-4059-B709-46BBD2BF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724150"/>
            <a:ext cx="97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0.74 pp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E2B915-4CA1-4195-BEED-6A813491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479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E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5AE40B-9454-4FCF-8F6A-735C14D1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724150"/>
            <a:ext cx="97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0.95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676A64-D8E5-4D8C-A44E-6E7A68C0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47950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E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961206-21D9-4823-9396-6BB500A4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724150"/>
            <a:ext cx="78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0.92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4D9D91-A360-4AC6-AEE7-8998C99D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276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3DDE9B-19A0-434E-953A-6E6A5CB4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143250"/>
            <a:ext cx="2590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ElasticNet ML lineare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D86006-AD6C-4D4F-858E-FFF4C2C0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670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ADB26A-DE8D-42F7-A87A-0C396528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143250"/>
            <a:ext cx="97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0.85 pp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932386-B0BD-4A52-B8DD-29A530E3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670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FB8E44-F0F7-4885-A7E4-ABA8B265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143250"/>
            <a:ext cx="97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1.01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262932-954A-4C2C-9711-560E0959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67050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61B2A6-EC7C-4751-A8EC-1701058C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143250"/>
            <a:ext cx="78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0.92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8151E8-B7AE-4CB1-9AC5-ACF936DA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276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E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F0320A-22BE-4903-9691-EBBC4C37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562350"/>
            <a:ext cx="2590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Ridge ML lineare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CFED136-F0E1-4CB3-9F11-0135F5DD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861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E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F70A78-3A8D-4D58-A99D-37AC4508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562350"/>
            <a:ext cx="97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0.88 pp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1F8EA2-9454-4128-B9EE-940D236B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861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E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316C9DE-0FD4-49FD-A378-0A314B13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562350"/>
            <a:ext cx="97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1.05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E759F66-07D4-4819-867F-666472C8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86150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E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3F86545-46FD-4DD7-9668-9CEA929D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562350"/>
            <a:ext cx="78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0.91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2A0BB04-3582-49B6-90D2-B33C57B6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76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2B756CD-832A-4688-ACA7-C0F9CB5D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981450"/>
            <a:ext cx="2590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OLS classica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7979C5F-B9F2-43B5-848F-5B12DBE2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052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7925083-57FB-42D0-9240-45760A0E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981450"/>
            <a:ext cx="97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0.91 pp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CDB7252-4900-44AE-A44E-1CA65AAD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052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3F8E697-A882-455E-B263-0F2FB80E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981450"/>
            <a:ext cx="97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1.20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58F0857-C76B-4130-AD6D-637451F7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05250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A8E3021-C424-48CD-ADED-B16BEE04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981450"/>
            <a:ext cx="78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0.88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87E58B3-5D95-4EF3-8FED-3E0D890A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24350"/>
            <a:ext cx="276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E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1EF7275-E15E-464B-BA98-449A88C4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400550"/>
            <a:ext cx="2590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Naive lag-1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BC8F099-2D80-4C4F-90F3-CE336398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243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E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320D727-9CDC-40A1-B185-09BFC67E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400550"/>
            <a:ext cx="97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0.96 pp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FC5C85A-F2CA-476F-A7C9-F4B04F28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243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E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378B09A-C1C9-4593-9A42-A0675983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400550"/>
            <a:ext cx="97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1.24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6E5BC54-A33D-46B2-9123-EE7E44CE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24350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E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6CEA1F6-D31F-4CB7-B5C6-7C5DF7FC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400550"/>
            <a:ext cx="78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0.87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01D1C8C-3808-488F-A8F0-00592EA7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52625"/>
            <a:ext cx="2762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A935F89-FE4E-48C3-9E03-B5BF9EE9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52625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49C61AB-77FE-4219-99F4-8D43F917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05025"/>
            <a:ext cx="2428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A9D8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2A9D8F"/>
                </a:solidFill>
                <a:latin typeface="Aptos Display"/>
                <a:ea typeface="Aptos Display"/>
                <a:cs typeface="Aptos Display"/>
              </a:rPr>
              <a:t>−21%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F83CEAD-7D24-4430-9AE6-A3D9ED85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33650"/>
            <a:ext cx="2428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errore vs OLS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0D09C38-C419-4472-9E57-FFF2E346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81300"/>
            <a:ext cx="2428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MAE Random Forest rispetto a OLS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D56A741-9E7D-402C-9976-6E8FB32B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0"/>
            <a:ext cx="2762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CA976E0-EA84-484E-B2AA-DB11B91C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E891260-B732-4931-BF7A-B77E243E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86150"/>
            <a:ext cx="2428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rPr>
              <a:t>0.72 pp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1545804-6B6E-465D-A6FA-AD422B8E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14775"/>
            <a:ext cx="2428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errore medio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9CDC47A-DE91-4404-B404-FCF86728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162425"/>
            <a:ext cx="2428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test 2024–2025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B73151E-ABF5-4D7B-B490-B9F72D49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720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Interpretazione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C224B50-59A5-48AE-822F-B02A717F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196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La disoccupazione non è descritta bene da una relazione lineare semplice: territorio, persistenza e NEET interagiscono.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C5D279E-2A4C-4433-9620-FD73916F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Il ML serve davvero per prevedere la disoccupazione, ma il vantaggio va letto come supporto alla decisione territoriale.</a:t>
            </a:r>
          </a:p>
        </p:txBody>
      </p:sp>
    </p:spTree>
    <p:extLst>
      <p:ext uri="{BB962C8B-B14F-4D97-AF65-F5344CB8AC3E}">
        <p14:creationId xmlns:p14="http://schemas.microsoft.com/office/powerpoint/2010/main" val="90000445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40A4B1-C936-4BE2-A194-B7E4C172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61E99-1936-429B-B7DF-984F6393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5FA75-6C53-42A6-B640-D65AD0AC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FORECASTING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2EB29B-C5C4-4A62-8B71-E41F8567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579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Big Data project | ISTAT regional labour market + GDP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9DC827-BE76-4628-8E17-D6AC0B4B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7905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Per gli occupati vince la persistenza: l’anno precedente basta spesso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3B40A-B541-411F-B3BB-422B0C9D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62075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Il numero di occupati regionali cambia lentamente; la baseline lag-1 batte modelli più complessi.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A0CF93-4F1F-48C5-B6F2-8C9F14C5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E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0314F-CDC5-4FBD-A19B-F650DC38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90500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Modello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45BD0E-D426-402C-97D5-A14BAE5A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288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E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2E315B-E922-4004-AB63-2B05A40D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905000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FEB955-1322-4795-90D1-5E35CE61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8288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E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82492F-1AA8-4DA9-B983-0F5B134E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905000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5E5DFC-831C-4697-8483-0E472366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828800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E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6EFF98-5B08-4D08-9B2E-59C8043B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905000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D246A0-CBB9-406C-8F3C-0FFBAF17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BDA4E1-0C7F-459B-868E-63BFBD63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6220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Naive lag-1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9E2CD2-B863-401E-8799-B524EB2D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860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0974F6-5630-45CD-A114-2A412D90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362200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12.76k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D29DFA-0D7C-4C11-8204-7DB6E9F6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860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BC9A8B-BB9C-44DF-B807-1061F5CA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362200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1.16%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5A5E83-DBD8-4566-8C80-C36FA71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86000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0665BD-5D71-4D60-944A-4E186F55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362200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0.9996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7BCAB1-E4D7-4727-928A-80A4C026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E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8B197D-2E66-4752-B855-CA46D4FF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81940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Gradient Boosting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7AF139-368F-4DFC-8FA5-7D5D062F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432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E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B32E29-12E7-45DF-A41E-58518789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819400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29.70k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BC0B1B-ECA8-4C3C-9630-1B141C6C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432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E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1AF6B8-D0B4-49E8-B0BB-CE7265E0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819400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3.74%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F5903A-7F1B-47A8-BFC1-D4737B61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43200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E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F56900-0BCC-4365-A60C-CB338C96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819400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0.9978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BB6954-DE76-4524-B79D-7F17FE7D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3CAC8B-5FD5-4FE8-829F-E95BFDE6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7660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Ridge ML lineare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5C20F5-FC35-4189-AC8A-982CD63E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004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102627-6EB8-4F7C-B670-AE340D31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276600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31.94k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30C701-5AD0-415E-BF33-08B04043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6FBE32-789B-458E-9EA9-372EB257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276600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7.45%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BB8B25-B746-4701-BCCD-81E50FDC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200400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74C4F7-BD2F-43DD-8A28-3ACEA240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276600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0.9986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A0AB3D-B39D-4B97-A821-0BF0B17B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E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33EA01-BEE1-4140-A9B5-3515B4BF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3380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OLS classica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E78099-E31B-4423-8622-432DC660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576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E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3119EBE-8FBE-45F6-B071-5B5805B8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733800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32.45k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7F2E4A-9A61-445B-8F8F-5CA08854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576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E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3BA265E-F75A-4C1D-8632-9DAE3BA9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733800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9.43%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21D6E82-B021-4E29-9B46-BB7CC5EB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657600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E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FA28A8B-3E4D-4088-8088-E3ACB221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733800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0.9985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94DFAB-1077-4CA3-B8E1-14166670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4205445-0AE5-4A2D-8C3D-96C0BD69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9100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653062A-1387-40EA-B4D1-7BDF4503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1148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F834946-4875-442F-964E-7756EF50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191000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57.32k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72EBC8B-4E77-4304-B113-2F771CF4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148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544EB29-58CA-4BF3-AB83-5AEF4E1E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191000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6.08%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80AF413-ED2A-4048-8408-8A390236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114800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2F0A0C1-0B30-4A5D-8B96-3672287D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191000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0.9896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C46ABB1-4AD1-4AB0-BF20-69012DE1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76250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4c8b5eba494249"/>
          <a:stretch xmlns:a="http://schemas.openxmlformats.org/drawingml/2006/main"/>
        </p:blipFill>
        <p:spPr>
          <a:xfrm xmlns:a="http://schemas.openxmlformats.org/drawingml/2006/main">
            <a:off x="6648450" y="2370138"/>
            <a:ext cx="4610100" cy="1536700"/>
          </a:xfrm>
          <a:prstGeom xmlns:a="http://schemas.openxmlformats.org/drawingml/2006/main" prst="rect">
            <a:avLst/>
          </a:prstGeom>
        </p:spPr>
      </p:pic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A720423-1E82-4A4D-BB68-507CC4FD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19625"/>
            <a:ext cx="441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Confronto MAE test 2024–2025.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B797F08-F0A9-4507-9F2E-8B4170B4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Risultato importante: il Machine Learning non è sempre superiore; per variabili molto persistenti la baseline è il benchmark da battere.</a:t>
            </a:r>
          </a:p>
        </p:txBody>
      </p:sp>
    </p:spTree>
    <p:extLst>
      <p:ext uri="{BB962C8B-B14F-4D97-AF65-F5344CB8AC3E}">
        <p14:creationId xmlns:p14="http://schemas.microsoft.com/office/powerpoint/2010/main" val="177064271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63391B-F98C-4989-8774-139C7DFA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BE5994-E174-4405-9435-D7415560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4626C-8541-4D87-A654-20F79E5E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BACKTESTING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BB2877-2F42-4A47-9111-D26D7270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579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Big Data project | ISTAT regional labour market + GDP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BE31C3-0E29-4F5C-B071-A2CA6C3C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7905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Il backtesting conferma la robustezza della lettura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C86BD6-C4CB-4921-B6F3-96724D39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62075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Su tre finestre temporali, Random Forest resta migliore per disoccupazione; lag-1 resta migliore per occupati.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FF51E8-8468-4559-B39E-B4DF6DC0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7524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4c25f0b07640a6"/>
          <a:stretch xmlns:a="http://schemas.openxmlformats.org/drawingml/2006/main"/>
        </p:blipFill>
        <p:spPr>
          <a:xfrm xmlns:a="http://schemas.openxmlformats.org/drawingml/2006/main">
            <a:off x="695325" y="2124075"/>
            <a:ext cx="7372350" cy="24574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C63B6B-226B-41C1-98BD-2779696A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48250"/>
            <a:ext cx="7181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MAE medio su finestre rolling.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FDA771-16EB-416D-8D59-12856070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333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DE62CD-B544-41CF-ADFA-FC89738B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14E915-E988-46B5-9414-74C0D296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621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A9D8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2A9D8F"/>
                </a:solidFill>
                <a:latin typeface="Aptos Display"/>
                <a:ea typeface="Aptos Display"/>
                <a:cs typeface="Aptos Display"/>
              </a:rPr>
              <a:t>0.80 pp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31A94C-4AFD-4274-B7F4-13DB88FC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907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RF disoccupazione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8B4BFD-AA71-4121-9334-60059A3B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3842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MAE medio rolling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BD9D7E-79A3-45D9-89BE-99E7FBEC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2333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3FBDD7-2D40-438A-B16A-B23DC1E0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56098C-7B10-4157-841B-5FB012E1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956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rPr>
              <a:t>1.37 pp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18F3BD-CFA5-44EE-93F6-AF4F281F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242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OLS disoccupazione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B40975-C322-4A14-B37C-C0A6471A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97192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MAE medio rolling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E5FD7B-EDDD-4D8D-A1AB-0B86C277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2333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BF7E6E-4087-4504-A580-4220CA19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7B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84DB18-82FD-488C-BBE3-A75BEE6E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291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57B9D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457B9D"/>
                </a:solidFill>
                <a:latin typeface="Aptos Display"/>
                <a:ea typeface="Aptos Display"/>
                <a:cs typeface="Aptos Display"/>
              </a:rPr>
              <a:t>15.4k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D8940B-805D-4DCF-AD29-65F2EC32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0577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lag-1 occupati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9816E4-1667-4790-9686-B55E89E2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30542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MAE medio rolling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ABCE8D-1AC8-4F69-8466-0A54978F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La validazione temporale sostiene il messaggio: complessità utile sulla disoccupazione, persistenza dominante sugli occupati.</a:t>
            </a:r>
          </a:p>
        </p:txBody>
      </p:sp>
    </p:spTree>
    <p:extLst>
      <p:ext uri="{BB962C8B-B14F-4D97-AF65-F5344CB8AC3E}">
        <p14:creationId xmlns:p14="http://schemas.microsoft.com/office/powerpoint/2010/main" val="168996619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C9848C-74DB-4CF3-BB25-7EE1D28E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BDD5BF-409B-42CA-8591-D92A6413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90733-12F0-44EE-9070-58FB1C29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EXPLAINABILITY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E1860-D1E1-49E7-81CC-93169BBB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579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Big Data project | ISTAT regional labour market + GDP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BCAA86-BCA3-4289-9829-6CBE6AD5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7905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La disoccupazione dell’anno precedente domina la previsione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D2F77E-456E-47F1-B4F2-B59B6D5D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62075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La persistenza storica è il driver principale; il NEET è il secondo segnale informativo.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E52C63-8EB2-4450-8B01-75EE5669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67627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f2df486d834388"/>
          <a:stretch xmlns:a="http://schemas.openxmlformats.org/drawingml/2006/main"/>
        </p:blipFill>
        <p:spPr>
          <a:xfrm xmlns:a="http://schemas.openxmlformats.org/drawingml/2006/main">
            <a:off x="923925" y="1743075"/>
            <a:ext cx="6248400" cy="31242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873807-91DB-450D-8B4D-B7C74D46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05375"/>
            <a:ext cx="6419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Feature importance Random Forest.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6674A7-B744-4768-A6AF-A75AF783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52625"/>
            <a:ext cx="247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EAD74E-4699-4FFC-91FC-D01ADF56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52625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7E69AA-4E83-42C5-9524-E4F356EA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05025"/>
            <a:ext cx="2143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A9D8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2A9D8F"/>
                </a:solidFill>
                <a:latin typeface="Aptos Display"/>
                <a:ea typeface="Aptos Display"/>
                <a:cs typeface="Aptos Display"/>
              </a:rPr>
              <a:t>0.93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C52767-8916-4AB1-B20D-DA927CCB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33650"/>
            <a:ext cx="2143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disoccupazione lag-1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0BC11D-5605-49B0-BE32-F708222A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781300"/>
            <a:ext cx="2143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importanza relativa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5A6E0F-5D9F-401B-9F8D-8E451CF4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86125"/>
            <a:ext cx="247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587434-922E-4A30-BB07-B84A87B1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86125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3FA6A0-42AD-49A2-AA67-64C244E7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438525"/>
            <a:ext cx="2143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rPr>
              <a:t>0.054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38425C-59C9-4A4B-9FCB-F18B24CC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867150"/>
            <a:ext cx="2143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NEET lag-1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C13AFD-1638-4D4D-BE30-7707DAA3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114800"/>
            <a:ext cx="2143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secondo predittore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3885DC-0E04-4DD2-B7BD-F1E4805A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86300"/>
            <a:ext cx="2476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Nota interpretativa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2DAEAF-7825-46A9-A072-9DF1A18E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933950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Il PIL pesa meno nella previsione puntuale, ma resta decisivo per leggere la qualità economica del territorio.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F46AB0-69F9-4DA7-9581-3518A605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67400"/>
            <a:ext cx="1009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Il modello dice cosa predice; la policy spiega perché il rischio si concentra e come ridurlo.</a:t>
            </a:r>
          </a:p>
        </p:txBody>
      </p:sp>
    </p:spTree>
    <p:extLst>
      <p:ext uri="{BB962C8B-B14F-4D97-AF65-F5344CB8AC3E}">
        <p14:creationId xmlns:p14="http://schemas.microsoft.com/office/powerpoint/2010/main" val="176962349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7009A7-9F00-4CDF-A5A8-3981C815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E9CC8F-6BAE-4050-8FF8-831776DA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9FB69-4A0D-4F48-8150-4BFEC895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POLICY INSIGHTS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B95C60-C198-4CEC-9640-9499916B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579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Big Data project | ISTAT regional labour market + GDP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CA3DE3-3A0E-45ED-99C8-33C95231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7905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Le regioni prioritarie combinano disoccupazione alta e PIL per occupato basso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C0758B-C6BE-4D30-96D0-EDCD79DE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62075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Il grafico a quadranti traduce il forecast in una mappa decisionale.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86D02D-EE21-4BF7-A796-C3C3A22F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7620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cb5e3bf48a4e9b"/>
          <a:stretch xmlns:a="http://schemas.openxmlformats.org/drawingml/2006/main"/>
        </p:blipFill>
        <p:spPr>
          <a:xfrm xmlns:a="http://schemas.openxmlformats.org/drawingml/2006/main">
            <a:off x="1533525" y="1647825"/>
            <a:ext cx="5657850" cy="36004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F00D0A-47A5-4855-9460-0A6FB87D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7277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Dimensione dei punti = disoccupati stimati.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7CBCF3-E1C9-444B-A945-481328BB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097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E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887606-5B06-4288-A1A4-C8364E4B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85950"/>
            <a:ext cx="1028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Regione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273076-C90D-48B8-9746-6126873B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1809750"/>
            <a:ext cx="914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E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46BF62-A55B-4199-8EF7-9C385FF5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85950"/>
            <a:ext cx="742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Disocc. prev.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51B245-D76B-4247-A840-97311FC3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180975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E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BCDD60-4DF7-430E-A440-8042023D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885950"/>
            <a:ext cx="514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02A757-4B57-4C9E-BB1D-91ADBAA4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1809750"/>
            <a:ext cx="87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E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A34A86-35D3-4031-A7C7-CAAE8126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885950"/>
            <a:ext cx="704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PIL/occup.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301100-4B24-42FE-9514-299C7573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0980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B0AAFB-9E98-48FA-AC8E-ADF044FD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86000"/>
            <a:ext cx="1028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Campania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E04A2A-1661-408E-B48F-68975658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209800"/>
            <a:ext cx="914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AAFD73-078F-42E1-BB51-16D60466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86000"/>
            <a:ext cx="742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14.96%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7638D4-DAA8-45F2-952E-8AAA8437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20980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2945DE-D66E-4CE4-8ADE-535F810F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286000"/>
            <a:ext cx="514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24.90%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239F29-4E90-4DEA-80D7-8C2D67CD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2209800"/>
            <a:ext cx="87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092BE5-BD89-463A-A686-65657163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286000"/>
            <a:ext cx="704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82.6k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8FC01C-B377-4C0C-880E-328144D6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098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E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1C0784-3136-40B8-9143-9660544E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86050"/>
            <a:ext cx="1028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Sicilia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066443-D0FE-4B62-A035-DECB031A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609850"/>
            <a:ext cx="914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E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8034C3-14DA-471F-AC00-35F8A5FD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86050"/>
            <a:ext cx="742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13.03%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3B3596-0BAB-47C9-A9E9-8112B6D0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60985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E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8129FD-D33F-4755-8232-FEC8210D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686050"/>
            <a:ext cx="514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25.74%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8E5F46-03B1-491C-AC14-B885AB8B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2609850"/>
            <a:ext cx="87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E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9A0555-4531-4C6F-8895-DFC412C1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686050"/>
            <a:ext cx="704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78.3k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16348E-2028-44F3-979B-FAC0BEFB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0990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EA7E33-B766-4242-8034-0B02EEF4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86100"/>
            <a:ext cx="1028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Calabria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D9CA82-6B78-401D-ACA7-67216454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009900"/>
            <a:ext cx="914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84EB99-ACAD-49D6-8FF2-25B0A2F9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86100"/>
            <a:ext cx="742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13.07%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1A96D4-86D2-4F67-B9A8-4B73BD67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300990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464B74-BA4C-46D4-97D1-45979C9D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86100"/>
            <a:ext cx="514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26.23%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157D95-D1C8-4C4A-82A1-8759CEFC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3009900"/>
            <a:ext cx="87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D86C63-1A56-46DB-80D9-EAEDA3CF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086100"/>
            <a:ext cx="704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76.5k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04078D-FD5E-4F2B-B321-E6131665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4099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E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1528CE-7F30-437B-81D0-F5FFAA05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86150"/>
            <a:ext cx="1028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Puglia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74DB3AB-34A4-4771-981F-A78A420B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409950"/>
            <a:ext cx="914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E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3E3EED1-947D-421B-8901-2D30C9BE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86150"/>
            <a:ext cx="742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8.85%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F82D471-53F1-4901-9AC1-951714AF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340995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E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07B4856-104C-4450-AEA3-CC31B9AE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486150"/>
            <a:ext cx="514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21.42%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8A2BEBD-1CDE-4547-B51C-FA2EE7F4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3409950"/>
            <a:ext cx="87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E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B9DB33-B1D9-463F-B4DB-0022D3DE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486150"/>
            <a:ext cx="704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74.6k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258DC3D-EEDA-4350-960C-04608CB4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1000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2EE574B-39BE-4CA0-9BF5-27EAF39B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86200"/>
            <a:ext cx="1028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Sardegna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2221A0B-1D1B-4A6E-9442-A51C3ADE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810000"/>
            <a:ext cx="914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BA8CC1F-EA83-4F52-B80D-61C5D24F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86200"/>
            <a:ext cx="742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7.46%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E838ACD-98D2-4614-8D94-944DBCF2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381000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12F5F1F-84AD-4C6A-BCDB-EB097B02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886200"/>
            <a:ext cx="514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17.79%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4DE724C-22E7-4D86-B749-80FEAC14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3810000"/>
            <a:ext cx="87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7A4C771-66CA-4ACB-A0D9-1A3B0CC9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886200"/>
            <a:ext cx="704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76.0k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46E9207-7D9F-4FC1-947B-B4A05516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Quando disoccupazione prevista, NEET e basso PIL per occupato si sovrappongono, serve una risposta integrata lavoro–sviluppo.</a:t>
            </a:r>
          </a:p>
        </p:txBody>
      </p:sp>
    </p:spTree>
    <p:extLst>
      <p:ext uri="{BB962C8B-B14F-4D97-AF65-F5344CB8AC3E}">
        <p14:creationId xmlns:p14="http://schemas.microsoft.com/office/powerpoint/2010/main" val="84236582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768243-E31A-4463-AC40-8DC5E104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E7117-9DE5-47F6-A5AF-C00A2100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FB0FE-157B-471E-A77F-09836E39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POLICY PRIORITY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8D1AFD-AA0E-4F84-93C2-62C183A6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579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Big Data project | ISTAT regional labour market + GDP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BA29B-2BBB-41CB-A07D-1A66352B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7905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La priorità 2025 si concentra soprattutto nel Mezzogiorno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57F431-8508-4DF1-B46C-FF6ED725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62075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Il ranking combina rischio di disoccupazione, NEET, PIL per occupato e massa stimata di disoccupati.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27ACAF-902B-4812-AFAC-0C2F3239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609600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b5c94e7c7548c9"/>
          <a:stretch xmlns:a="http://schemas.openxmlformats.org/drawingml/2006/main"/>
        </p:blipFill>
        <p:spPr>
          <a:xfrm xmlns:a="http://schemas.openxmlformats.org/drawingml/2006/main">
            <a:off x="998084" y="1647825"/>
            <a:ext cx="5433332" cy="34575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6042FA-46F0-43EE-B4D2-601F9823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575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Top regioni per risk score.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C2BBFC-FA18-4F1B-803F-72AC56C0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762125"/>
            <a:ext cx="247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9E4603-5551-4613-B6A1-F057CCE6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762125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411226-1853-408A-8BC9-066A3725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914525"/>
            <a:ext cx="2143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rPr>
              <a:t>292k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AB1811-38CE-4E21-8643-143BDB8E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343150"/>
            <a:ext cx="2143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Campania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ECBF0A-4E47-41DB-BAD0-EE3FB12A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590800"/>
            <a:ext cx="2143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disoccupati stimati dal forecast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A112DD-08E8-441F-8673-9420B407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095625"/>
            <a:ext cx="247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B3008C-E7E9-4001-88B2-55B55BA0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095625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EFA211-88CF-4E0D-9483-96169E93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248025"/>
            <a:ext cx="2143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rPr>
              <a:t>214k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E3352E-D26A-460A-809A-52CA5343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676650"/>
            <a:ext cx="2143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Sicilia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199AC4-24C1-4B92-B088-6892F0F8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924300"/>
            <a:ext cx="2143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disoccupati stimati dal forecast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E9AC4D-EF93-420C-A485-37A5C66B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429125"/>
            <a:ext cx="247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F5F5C0-B349-4D03-95DD-1ED0633C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429125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6E52AC-14BE-471F-8ADF-EC15705B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581525"/>
            <a:ext cx="2143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rPr>
              <a:t>123k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7A958C-405D-46DD-8100-2BEC35A7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010150"/>
            <a:ext cx="2143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Puglia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043CDD-9212-43B0-8A92-85689E88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257800"/>
            <a:ext cx="2143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disoccupati stimati dal forecast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A4397E-8219-433D-AA1B-8D21757D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La policy dovrebbe partire dalle aree dove il rischio è alto e la capacità produttiva locale è più fragile.</a:t>
            </a:r>
          </a:p>
        </p:txBody>
      </p:sp>
    </p:spTree>
    <p:extLst>
      <p:ext uri="{BB962C8B-B14F-4D97-AF65-F5344CB8AC3E}">
        <p14:creationId xmlns:p14="http://schemas.microsoft.com/office/powerpoint/2010/main" val="169042521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FE7285-764B-4D92-AD52-1679368C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934BF2-E4B6-4421-BFD4-B525F468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35EEF8-9BAD-455F-94D3-F32954CF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CRITICALITY CLASSIFICATION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84D9ED-30F5-403B-90D6-4E4F1EF4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579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Big Data project | ISTAT regional labour market + GDP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10AE41-9FE6-4219-92D6-92F29AEB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7905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La classificazione rende il modello uno strumento decisionale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784C7-6E18-4401-BEF3-412FCD0C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62075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Invece di prevedere solo un valore, il modello segnala quali regioni rischiano di essere critiche.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7FDC08-1161-4103-A526-D5A76FDD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62865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1cd33a36854051"/>
          <a:stretch xmlns:a="http://schemas.openxmlformats.org/drawingml/2006/main"/>
        </p:blipFill>
        <p:spPr>
          <a:xfrm xmlns:a="http://schemas.openxmlformats.org/drawingml/2006/main">
            <a:off x="989806" y="1695450"/>
            <a:ext cx="5640388" cy="30765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3EEE33-7011-4A7B-B281-11B5562C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0125"/>
            <a:ext cx="5943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Probabilità di regione critica nel 2025.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4209CF-8C0E-499B-ADB1-9FF152D7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62125"/>
            <a:ext cx="2333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19E400-C943-4783-936E-13CA254E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62125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EBC6CB-F6CD-4D0A-8D2E-B1C95E95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14525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A9D8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2A9D8F"/>
                </a:solidFill>
                <a:latin typeface="Aptos Display"/>
                <a:ea typeface="Aptos Display"/>
                <a:cs typeface="Aptos Display"/>
              </a:rPr>
              <a:t>0.93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128808-FC30-448A-A227-F2E2E3D0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431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39E66D-4B09-4BEC-A62C-17D1FE33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908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Logistic Regression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F2AF1F-0503-4160-9EDA-A4830AEC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95625"/>
            <a:ext cx="2333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3DAD31-760F-4781-952C-45DAB9F4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95625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7B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D948F2-200A-4677-BC48-E6121CB3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48025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57B9D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457B9D"/>
                </a:solidFill>
                <a:latin typeface="Aptos Display"/>
                <a:ea typeface="Aptos Display"/>
                <a:cs typeface="Aptos Display"/>
              </a:rPr>
              <a:t>0.92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5857BA-6CB9-4E3F-9C3D-592414BF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766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F1-score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AB636F-A90A-4E96-B813-4E56A099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9243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regioni critiche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5FCDE9-07BC-412F-9CC8-7AFF5C16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29125"/>
            <a:ext cx="2333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EC9297-F3C4-4069-8679-A3724820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29125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08F7D5-1F35-4D8A-AA0C-6C6175F9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81525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rPr>
              <a:t>0.97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9D6E14-D182-4232-B64D-D60E1DBD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0101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ROC AUC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BBCE7A-6D62-4EB9-BD1B-5E765575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2578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separazione classi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782432-20BB-4EAF-BC96-3A1B381F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La Logistic Regression è abbastanza interpretabile e funziona bene: utile come early-warning semplice per le regioni critiche.</a:t>
            </a:r>
          </a:p>
        </p:txBody>
      </p:sp>
    </p:spTree>
    <p:extLst>
      <p:ext uri="{BB962C8B-B14F-4D97-AF65-F5344CB8AC3E}">
        <p14:creationId xmlns:p14="http://schemas.microsoft.com/office/powerpoint/2010/main" val="134040350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E1C9D6-F625-4271-9FBD-350D7F4D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84DB7-5A8F-4854-89F5-AC532C37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F5D25A-4E15-44B1-A8C1-1F306D39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RECOMMENDATIONS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A77AA-7900-478D-8012-ECB5A7C4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579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Big Data project | ISTAT regional labour market + GDP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9479B-7DC6-4890-A58B-8A52518D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7905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Cinque leve per migliorare l’occupazione nelle aree prioritarie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66F93-E129-4634-ADA7-EFA676B0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62075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Le raccomandazioni seguono direttamente dai cluster: alto rischio, NEET elevato, PIL per occupato basso.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9CA005-F5AF-4598-AB4E-7B16BAB0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4BF46D-F4ED-4C8D-BAEF-E5169E7F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36339-B035-41C0-9BB2-E63607B9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60020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Investimenti produttivi mirati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38AD0C-AF45-41D9-9855-7D3DD1F3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05000"/>
            <a:ext cx="723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Attrarre imprese e filiere nei territori con basso PIL per occupato.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B5039A-AB79-4851-9780-C8E02EFF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1169BF-1E7C-4A46-B53D-75A5F3D4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9BCF92-67E7-4A2C-AD00-D788D4CF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8125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Formazione tecnica e 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D4FCA4-8780-4C60-B2E5-CF604928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86050"/>
            <a:ext cx="723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Allineare competenze ai settori con domanda reale di lavoro.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6526F3-5BD5-4794-B447-7FAAC4CE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2F6120-0720-4234-88A9-36324DF4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2A1FF3-7B7D-4AA9-8055-A9A34F78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6230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Apprendistato e NEET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3ACC6A-2C5D-49B0-8E56-A94AEBEE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67100"/>
            <a:ext cx="723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Ridurre la distanza giovani–mercato con percorsi scuola-lavoro regionali.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DC5125-2152-461F-A6E4-AD6D116E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7B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5B043D-956B-4C14-8CED-CC4F8563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76254B-CA9B-4A76-95D6-9B54F91A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4335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Centri per l’impiego potenziati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87025D-A1DF-4F88-BA5A-651EBB14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48150"/>
            <a:ext cx="723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Matching più rapido su profili, imprese e fabbisogni locali.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5FE1D2-CAA6-489E-8782-F9036332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7B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A55E5F-5FE7-4998-98E0-A9D0E874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DF6A14-E48A-4E42-966D-D912CF6F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2440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Monitoraggio annuale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FC434D-38A0-480E-9C72-916FCEEF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29200"/>
            <a:ext cx="723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Valutare NEET, disoccupazione prevista e PIL per occupato, non solo occupati totali.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EB012F-FD6A-480A-A884-0FDCF7E6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790700"/>
            <a:ext cx="20002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9525">
            <a:solidFill>
              <a:srgbClr val="BFD8D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28AD19-CCD8-4403-8557-BC9C8CC2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574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A9D8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2A9D8F"/>
                </a:solidFill>
                <a:latin typeface="Aptos Display"/>
                <a:ea typeface="Aptos Display"/>
                <a:cs typeface="Aptos Display"/>
              </a:rPr>
              <a:t>Priorità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C769A2-6C8F-42EA-AF70-20BC51C6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24125"/>
            <a:ext cx="1524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Campania</a:t>
            </a:r>
          </a:p>
          <a:p xmlns:a="http://schemas.openxmlformats.org/drawingml/2006/main">
            <a:pPr algn="l">
              <a:defRPr sz="16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Sicilia</a:t>
            </a:r>
          </a:p>
          <a:p xmlns:a="http://schemas.openxmlformats.org/drawingml/2006/main">
            <a:pPr algn="l">
              <a:defRPr sz="16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Calabria</a:t>
            </a:r>
          </a:p>
          <a:p xmlns:a="http://schemas.openxmlformats.org/drawingml/2006/main">
            <a:pPr algn="l">
              <a:defRPr sz="16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Puglia</a:t>
            </a:r>
          </a:p>
          <a:p xmlns:a="http://schemas.openxmlformats.org/drawingml/2006/main">
            <a:pPr algn="l">
              <a:defRPr sz="16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Sardegna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1EBCF4-A23E-4CCD-9484-0F3E600A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La risposta più efficace combina domanda di lavoro, competenze e riduzione dei NEET.</a:t>
            </a:r>
          </a:p>
        </p:txBody>
      </p:sp>
    </p:spTree>
    <p:extLst>
      <p:ext uri="{BB962C8B-B14F-4D97-AF65-F5344CB8AC3E}">
        <p14:creationId xmlns:p14="http://schemas.microsoft.com/office/powerpoint/2010/main" val="75683559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085B40-440C-4D7E-A47C-A52FE2DB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82FD2E-0493-4B5B-A798-E1D7DE30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3C783F-AD07-4311-9741-7C5FA021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FINAL 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C6783B-0AE7-4460-A30E-8206C478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579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Big Data project | ISTAT regional labour market + GDP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C7F83-A65F-41AC-AA40-E124C9BC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7905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Conclusione: prevedere è utile solo se orienta l’intervento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B15EF2-40B6-4583-896A-7896545E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62075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Il progetto passa da dati ufficiali a modelli predittivi e chiude con priorità territoriali operative.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FF25C9-DEAC-4182-99FB-62322690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62125"/>
            <a:ext cx="247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100A36-19B2-480C-BD59-BA76BFB9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62125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4EE278-967B-47DE-BC7E-1A202886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14525"/>
            <a:ext cx="2143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A9D8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2A9D8F"/>
                </a:solidFill>
                <a:latin typeface="Aptos Display"/>
                <a:ea typeface="Aptos Display"/>
                <a:cs typeface="Aptos Display"/>
              </a:rPr>
              <a:t>RF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C874C1-8831-4223-A138-50412C8F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343150"/>
            <a:ext cx="2143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migliore per disoccupazione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C73ECA-4288-47B1-B91C-993A8B2C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590800"/>
            <a:ext cx="2143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MAE rolling 0.80 pp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853F59-5B72-443D-842F-E5FA9835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62125"/>
            <a:ext cx="247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781EB5-A48E-45A9-9F1C-D6A9B79A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62125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7B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B361DF-F7C2-437B-B7DC-DD7217DE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14525"/>
            <a:ext cx="2143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57B9D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457B9D"/>
                </a:solidFill>
                <a:latin typeface="Aptos Display"/>
                <a:ea typeface="Aptos Display"/>
                <a:cs typeface="Aptos Display"/>
              </a:rPr>
              <a:t>lag-1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1590DD-3D24-4223-939C-37A77915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343150"/>
            <a:ext cx="2143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migliore per occupati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A659B7-9B61-40D3-8632-528F5BD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590800"/>
            <a:ext cx="2143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MAE rolling 15.4k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ADE0F3-D2B0-447A-997B-AC38559B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762125"/>
            <a:ext cx="247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3E30C2-121D-4EAB-8789-15E175DB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762125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D11186-A30A-4C05-9326-25308BB3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14525"/>
            <a:ext cx="2143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rPr>
              <a:t>Logit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994A62-9DA0-49CB-A8A6-8E62943D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343150"/>
            <a:ext cx="2143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classificazione criticità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870A25-6F05-46C6-82B4-CA01B6C0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590800"/>
            <a:ext cx="2143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F1 0.92; ROC AUC 0.97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54FDE9-AC11-47E8-9C4D-E63D3F4E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Takeaway finale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1A2605-461E-45FE-9544-7A7D6508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9334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La disoccupazione italiana è persistente, territoriale e legata a fragilità sociali come il NEET. Il PIL assoluto spiega la scala economica, ma il PIL per occupato aiuta a capire la capacità del territorio di generare lavoro stabile.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5DAD6B-E130-4D67-8008-142399AE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962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9862CC-DBA8-49BC-9432-6F3513C7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334000"/>
            <a:ext cx="904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Raccomandazione: concentrare politiche attive, formazione tecnica e investimenti produttivi dove disoccupazione prevista, alto NEET e basso PIL per occupato si rafforzano.</a:t>
            </a:r>
          </a:p>
        </p:txBody>
      </p:sp>
    </p:spTree>
    <p:extLst>
      <p:ext uri="{BB962C8B-B14F-4D97-AF65-F5344CB8AC3E}">
        <p14:creationId xmlns:p14="http://schemas.microsoft.com/office/powerpoint/2010/main" val="200112669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809D2B-C68A-44C6-84D2-9D0404C8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4CA9AD-AC11-4A83-BE18-B83C46DB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1B819F-FD53-4270-A7D1-CEE8F218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73B6DC-5D01-44D1-873A-FDAC05C4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579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Big Data project | ISTAT regional labour market + GDP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4E895B-A64C-49E4-B478-E382E7EF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7905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Prossimi sviluppi da implementare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AF7C0-CD07-49F4-AFEB-F867E4C1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62075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Il progetto puo evolvere da analisi predittiva a strumento operativo per monitorare e simulare politiche del lavoro.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C92E2C-9C35-4037-9044-BAD47E30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F73727-03D9-4682-9D27-9C3EEFF3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21363F-0021-418F-A447-3F3E23B9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192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Aggiornare e ampliare i dati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CBD7C7-3604-4C77-B483-68AD8AD8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43100"/>
            <a:ext cx="4048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Integrare nuovi anni ISTAT, dati provinciali, settori produttivi, istruzione, imprese attive e investimenti pubblici.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ED6B1-DD9D-4C9D-B246-88E72D41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7B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87F2EE-3ABB-4F17-BF57-1E99E95B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43225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66185B-84F0-48E8-9C6D-3B5293E3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384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Migliorare i modelli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E43B75-53AE-4734-AD28-C6B3B8DD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62300"/>
            <a:ext cx="4048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Testare modelli spazio-temporali e boosting avanzato, mantenendo sempre il confronto con baseline semplici e OLS.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65C4AD-D158-4FF1-BA63-D87838DA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195653-B5F6-4AB0-A10D-6D9485B9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244CF7-9221-4FBB-958B-1C387DD8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576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Spiegare meglio le previsioni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D5E451-7515-43A1-A70F-51BED7D8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81500"/>
            <a:ext cx="4048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Usare SHAP o feature importance locali per capire perche una regione viene classificata come critica.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337ACE-790A-4FC2-A6CF-8A495ADC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764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9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762D44-B44C-42CD-AE65-2F6853D2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62175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309988-566B-4B17-A97C-6E375AB7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5740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Costruire scenari what-if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E22B6A-70E8-4113-9CDF-FA2832BA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4048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Simulare l'effetto di riduzioni dei NEET, aumento del PIL per occupato o nuove politiche attive sul rischio regionale.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B9792F-72F4-4D9B-90ED-FE11E869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052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6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3C8497-E961-441F-942F-99336F89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90925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E46212-F8B0-4D09-8633-D196588F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861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Dashboard interattiva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4F0E99-0CB2-4218-836D-6A023B8F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810000"/>
            <a:ext cx="4048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Pubblicare mappe e ranking regionali aggiornabili, utili per presentare le priorita di intervento in modo immediato.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203218-CF77-498F-A2D3-0BBD77B7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Il passo successivo e trasformare il modello in un sistema di monitoraggio: aggiornabile, spiegabile e orientato alle decisioni.</a:t>
            </a:r>
          </a:p>
        </p:txBody>
      </p:sp>
    </p:spTree>
    <p:extLst>
      <p:ext uri="{BB962C8B-B14F-4D97-AF65-F5344CB8AC3E}">
        <p14:creationId xmlns:p14="http://schemas.microsoft.com/office/powerpoint/2010/main" val="17138826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4B36E6-8E19-438C-A052-DFAD3E66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3FBE0D-C18F-42C2-B21F-2599E6DD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6213E"/>
              </a:gs>
              <a:gs pos="100000">
                <a:srgbClr val="2A9D8F"/>
              </a:gs>
            </a:gsLst>
            <a:lin ang="6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F4EEC7-0A18-4240-A674-EB783D99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000125"/>
            <a:ext cx="8572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Grazie per l'attenzione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60AEAF-AD81-455C-A35C-147BEA94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885950"/>
            <a:ext cx="838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6F4F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6F4F1"/>
                </a:solidFill>
                <a:latin typeface="Aptos"/>
                <a:ea typeface="Aptos"/>
                <a:cs typeface="Aptos"/>
              </a:rPr>
              <a:t>Previsione di occupazione e disoccupazione regionale in Italia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681B5-0070-4845-BB9E-BA2097AE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0375"/>
            <a:ext cx="8572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D407E6-7DDF-410F-97FB-6EDFB637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0375"/>
            <a:ext cx="952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4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32538B-DDAF-462B-B472-B8673259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575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Repository GitHub del progetto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5F1F2B-23EE-4A7E-A2C2-B29C42CE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723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57B9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57B9D"/>
                </a:solidFill>
                <a:latin typeface="Aptos"/>
                <a:ea typeface="Aptos"/>
                <a:cs typeface="Aptos"/>
              </a:rPr>
              <a:t>https://github.com/SimoneMantero/big-data-prog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4CF0EB-35A1-4177-AB16-A44734E5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Per scaricare il progetto: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9EEC38-EA8B-4489-8718-0FE2DA51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8630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6FCA76-31A5-4CEC-B173-93E70395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848225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git clone https://github.com/SimoneMantero/big-data-prog.git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D7B0D5-4E2B-4889-BD15-B96F2DB5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0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F4F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6F4F1"/>
                </a:solidFill>
                <a:latin typeface="Aptos"/>
                <a:ea typeface="Aptos"/>
                <a:cs typeface="Aptos"/>
              </a:rPr>
              <a:t>Notebook, dati, funzioni Python, grafici, metriche e PowerPoint finale sono inclusi nella repository.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07018E-FC6D-4505-BCC5-E6EC34A4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9055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Simone Mantero</a:t>
            </a:r>
          </a:p>
        </p:txBody>
      </p:sp>
    </p:spTree>
    <p:extLst>
      <p:ext uri="{BB962C8B-B14F-4D97-AF65-F5344CB8AC3E}">
        <p14:creationId xmlns:p14="http://schemas.microsoft.com/office/powerpoint/2010/main" val="7123798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2026-05-27T12:42:13.2340000Z</dcterms:created>
  <dcterms:modified xsi:type="dcterms:W3CDTF">2026-05-27T12:42:13.2340000Z</dcterms:modified>
</coreProperties>
</file>